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1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8A23"/>
    <a:srgbClr val="D6A82E"/>
    <a:srgbClr val="202D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User-provided the pitch.txt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 clarification: Trade-Lite is a lightweight, customizable personal app beyond trading-script customization.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User-provided the pitch.txt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User-provided Trade-Lite.pptx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 clarification: popular Bitunix USDT tickers provide real-time M1 data; Telegram notification is available but inactive.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394BB423-DE4D-4503-9B2E-55BAFDB8D1D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>
            <a:extLst>
              <a:ext uri="{FF2B5EF4-FFF2-40B4-BE49-F238E27FC236}">
                <a16:creationId xmlns:a16="http://schemas.microsoft.com/office/drawing/2014/main" id="{71DBDA78-CA8E-4914-96F4-C4DBD5A88B1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>
            <a:extLst>
              <a:ext uri="{FF2B5EF4-FFF2-40B4-BE49-F238E27FC236}">
                <a16:creationId xmlns:a16="http://schemas.microsoft.com/office/drawing/2014/main" id="{F62C609A-89F9-4327-9FA2-C8F910097F1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>
            <a:extLst>
              <a:ext uri="{FF2B5EF4-FFF2-40B4-BE49-F238E27FC236}">
                <a16:creationId xmlns:a16="http://schemas.microsoft.com/office/drawing/2014/main" id="{883DB54C-CE9F-4985-BCAA-881E24141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>
            <a:extLst>
              <a:ext uri="{FF2B5EF4-FFF2-40B4-BE49-F238E27FC236}">
                <a16:creationId xmlns:a16="http://schemas.microsoft.com/office/drawing/2014/main" id="{D47262B8-13E8-4A29-836C-300AFC765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>
            <a:extLst>
              <a:ext uri="{FF2B5EF4-FFF2-40B4-BE49-F238E27FC236}">
                <a16:creationId xmlns:a16="http://schemas.microsoft.com/office/drawing/2014/main" id="{2C41FCF8-021F-48CA-AB35-9EFA7E3FB58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>
            <a:extLst>
              <a:ext uri="{FF2B5EF4-FFF2-40B4-BE49-F238E27FC236}">
                <a16:creationId xmlns:a16="http://schemas.microsoft.com/office/drawing/2014/main" id="{4ECA8FE8-08C3-4996-AB13-2F67A8F781C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>
            <a:extLst>
              <a:ext uri="{FF2B5EF4-FFF2-40B4-BE49-F238E27FC236}">
                <a16:creationId xmlns:a16="http://schemas.microsoft.com/office/drawing/2014/main" id="{813F91B4-A488-4D3E-A735-455CC1A64E8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29C92A8C-A95C-4B69-A1B6-409A58F8E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7A038857-0ED9-4133-8FFF-EC33F70E4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CACF2563-BFB9-4231-8C5E-AD32E966629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A6C72083-42A3-4306-BFFF-8F4A293C303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3FA420CB-E423-4971-AB78-8D498DA44BD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>
            <a:extLst>
              <a:ext uri="{FF2B5EF4-FFF2-40B4-BE49-F238E27FC236}">
                <a16:creationId xmlns:a16="http://schemas.microsoft.com/office/drawing/2014/main" id="{DA25C1F3-9A75-421C-BF08-3E0AE6933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>
            <a:extLst>
              <a:ext uri="{FF2B5EF4-FFF2-40B4-BE49-F238E27FC236}">
                <a16:creationId xmlns:a16="http://schemas.microsoft.com/office/drawing/2014/main" id="{FA610D9C-DA2F-467C-9628-C5D145EC1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>
            <a:extLst>
              <a:ext uri="{FF2B5EF4-FFF2-40B4-BE49-F238E27FC236}">
                <a16:creationId xmlns:a16="http://schemas.microsoft.com/office/drawing/2014/main" id="{8072BD1E-60A0-40F0-BD69-E270150226D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>
            <a:extLst>
              <a:ext uri="{FF2B5EF4-FFF2-40B4-BE49-F238E27FC236}">
                <a16:creationId xmlns:a16="http://schemas.microsoft.com/office/drawing/2014/main" id="{3DB501F9-1323-4AD8-8BD1-E82B3AA6406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>
            <a:extLst>
              <a:ext uri="{FF2B5EF4-FFF2-40B4-BE49-F238E27FC236}">
                <a16:creationId xmlns:a16="http://schemas.microsoft.com/office/drawing/2014/main" id="{0D8877E4-6D69-4C37-8AA0-E8A6502B3CE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>
            <a:extLst>
              <a:ext uri="{FF2B5EF4-FFF2-40B4-BE49-F238E27FC236}">
                <a16:creationId xmlns:a16="http://schemas.microsoft.com/office/drawing/2014/main" id="{843EDDA9-90F8-49AF-ACEE-B683167F856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>
            <a:extLst>
              <a:ext uri="{FF2B5EF4-FFF2-40B4-BE49-F238E27FC236}">
                <a16:creationId xmlns:a16="http://schemas.microsoft.com/office/drawing/2014/main" id="{AFB56242-65EE-43FD-A997-19C90900B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>
            <a:extLst>
              <a:ext uri="{FF2B5EF4-FFF2-40B4-BE49-F238E27FC236}">
                <a16:creationId xmlns:a16="http://schemas.microsoft.com/office/drawing/2014/main" id="{9F89AD63-3A2F-448C-BF77-AB6ED62E4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>
            <a:extLst>
              <a:ext uri="{FF2B5EF4-FFF2-40B4-BE49-F238E27FC236}">
                <a16:creationId xmlns:a16="http://schemas.microsoft.com/office/drawing/2014/main" id="{E2257D1C-F596-4F45-8A37-45E208DB560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>
            <a:extLst>
              <a:ext uri="{FF2B5EF4-FFF2-40B4-BE49-F238E27FC236}">
                <a16:creationId xmlns:a16="http://schemas.microsoft.com/office/drawing/2014/main" id="{124A9F91-B0D1-4E96-B3A2-29B1D369496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>
            <a:extLst>
              <a:ext uri="{FF2B5EF4-FFF2-40B4-BE49-F238E27FC236}">
                <a16:creationId xmlns:a16="http://schemas.microsoft.com/office/drawing/2014/main" id="{6CF1D46B-0910-4D73-A3E7-809F3AB76188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>
            <a:extLst>
              <a:ext uri="{FF2B5EF4-FFF2-40B4-BE49-F238E27FC236}">
                <a16:creationId xmlns:a16="http://schemas.microsoft.com/office/drawing/2014/main" id="{8279AD1E-62B6-4721-927E-937FB5CA525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>
            <a:extLst>
              <a:ext uri="{FF2B5EF4-FFF2-40B4-BE49-F238E27FC236}">
                <a16:creationId xmlns:a16="http://schemas.microsoft.com/office/drawing/2014/main" id="{A1CB4EF3-A1AE-45F1-88A3-440108F5D50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>
            <a:extLst>
              <a:ext uri="{FF2B5EF4-FFF2-40B4-BE49-F238E27FC236}">
                <a16:creationId xmlns:a16="http://schemas.microsoft.com/office/drawing/2014/main" id="{18DDA697-0808-4209-9B45-C9DF4DF7655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>
            <a:extLst>
              <a:ext uri="{FF2B5EF4-FFF2-40B4-BE49-F238E27FC236}">
                <a16:creationId xmlns:a16="http://schemas.microsoft.com/office/drawing/2014/main" id="{4E76C941-601E-4EC2-BDF5-EF42E20C7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>
            <a:extLst>
              <a:ext uri="{FF2B5EF4-FFF2-40B4-BE49-F238E27FC236}">
                <a16:creationId xmlns:a16="http://schemas.microsoft.com/office/drawing/2014/main" id="{2D1DD1BC-F8E1-4934-9B7E-825EE463354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>
            <a:extLst>
              <a:ext uri="{FF2B5EF4-FFF2-40B4-BE49-F238E27FC236}">
                <a16:creationId xmlns:a16="http://schemas.microsoft.com/office/drawing/2014/main" id="{8CD16A5F-22EF-41A0-B8A3-FC05E927376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>
            <a:extLst>
              <a:ext uri="{FF2B5EF4-FFF2-40B4-BE49-F238E27FC236}">
                <a16:creationId xmlns:a16="http://schemas.microsoft.com/office/drawing/2014/main" id="{E1F2AEA3-5331-4110-97BC-A6CC04507C1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>
            <a:extLst>
              <a:ext uri="{FF2B5EF4-FFF2-40B4-BE49-F238E27FC236}">
                <a16:creationId xmlns:a16="http://schemas.microsoft.com/office/drawing/2014/main" id="{B3C0035D-7971-49AA-91D6-A1EC52C39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>
            <a:extLst>
              <a:ext uri="{FF2B5EF4-FFF2-40B4-BE49-F238E27FC236}">
                <a16:creationId xmlns:a16="http://schemas.microsoft.com/office/drawing/2014/main" id="{045599BC-956E-41CC-8AA9-038B32674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>
            <a:extLst>
              <a:ext uri="{FF2B5EF4-FFF2-40B4-BE49-F238E27FC236}">
                <a16:creationId xmlns:a16="http://schemas.microsoft.com/office/drawing/2014/main" id="{F513A140-A10B-42ED-B0D7-A853BD1EDB5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>
            <a:extLst>
              <a:ext uri="{FF2B5EF4-FFF2-40B4-BE49-F238E27FC236}">
                <a16:creationId xmlns:a16="http://schemas.microsoft.com/office/drawing/2014/main" id="{F924F56A-1097-499C-AE7D-029EFFCE3CB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>
            <a:extLst>
              <a:ext uri="{FF2B5EF4-FFF2-40B4-BE49-F238E27FC236}">
                <a16:creationId xmlns:a16="http://schemas.microsoft.com/office/drawing/2014/main" id="{4A78B46F-B231-474E-A653-44653A3CBC7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>
            <a:extLst>
              <a:ext uri="{FF2B5EF4-FFF2-40B4-BE49-F238E27FC236}">
                <a16:creationId xmlns:a16="http://schemas.microsoft.com/office/drawing/2014/main" id="{1C2DB85B-3C86-4A8B-BCDF-5F886F0C0C4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>
            <a:extLst>
              <a:ext uri="{FF2B5EF4-FFF2-40B4-BE49-F238E27FC236}">
                <a16:creationId xmlns:a16="http://schemas.microsoft.com/office/drawing/2014/main" id="{B2899280-34D7-4DA3-821C-A1180DE4B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>
            <a:extLst>
              <a:ext uri="{FF2B5EF4-FFF2-40B4-BE49-F238E27FC236}">
                <a16:creationId xmlns:a16="http://schemas.microsoft.com/office/drawing/2014/main" id="{4B611941-DDE4-4770-8B95-6E24512C194F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>
            <a:extLst>
              <a:ext uri="{FF2B5EF4-FFF2-40B4-BE49-F238E27FC236}">
                <a16:creationId xmlns:a16="http://schemas.microsoft.com/office/drawing/2014/main" id="{B1752979-B7D6-4206-9F15-78CAB1692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>
            <a:extLst>
              <a:ext uri="{FF2B5EF4-FFF2-40B4-BE49-F238E27FC236}">
                <a16:creationId xmlns:a16="http://schemas.microsoft.com/office/drawing/2014/main" id="{7C236CDE-4690-4C46-9206-A356E799F7C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>
            <a:extLst>
              <a:ext uri="{FF2B5EF4-FFF2-40B4-BE49-F238E27FC236}">
                <a16:creationId xmlns:a16="http://schemas.microsoft.com/office/drawing/2014/main" id="{33E65B4D-7A59-46BB-8A96-32876A73D66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>
            <a:extLst>
              <a:ext uri="{FF2B5EF4-FFF2-40B4-BE49-F238E27FC236}">
                <a16:creationId xmlns:a16="http://schemas.microsoft.com/office/drawing/2014/main" id="{9084E715-0413-4AB8-9496-300EAFB1AAC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>
            <a:extLst>
              <a:ext uri="{FF2B5EF4-FFF2-40B4-BE49-F238E27FC236}">
                <a16:creationId xmlns:a16="http://schemas.microsoft.com/office/drawing/2014/main" id="{4B2A097D-DEA2-42C5-8D7B-926164A66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>
            <a:extLst>
              <a:ext uri="{FF2B5EF4-FFF2-40B4-BE49-F238E27FC236}">
                <a16:creationId xmlns:a16="http://schemas.microsoft.com/office/drawing/2014/main" id="{4A68817D-8965-4A53-AEB8-2129116D9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>
            <a:extLst>
              <a:ext uri="{FF2B5EF4-FFF2-40B4-BE49-F238E27FC236}">
                <a16:creationId xmlns:a16="http://schemas.microsoft.com/office/drawing/2014/main" id="{8068A41F-BA6B-4D17-BFBA-48A67B0A4ED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>
            <a:extLst>
              <a:ext uri="{FF2B5EF4-FFF2-40B4-BE49-F238E27FC236}">
                <a16:creationId xmlns:a16="http://schemas.microsoft.com/office/drawing/2014/main" id="{30D2ADD2-0CB3-4011-956C-99DC7AB3CDC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>
            <a:extLst>
              <a:ext uri="{FF2B5EF4-FFF2-40B4-BE49-F238E27FC236}">
                <a16:creationId xmlns:a16="http://schemas.microsoft.com/office/drawing/2014/main" id="{E7560574-09DC-41CD-9E7D-4C9C863F2F7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>
            <a:extLst>
              <a:ext uri="{FF2B5EF4-FFF2-40B4-BE49-F238E27FC236}">
                <a16:creationId xmlns:a16="http://schemas.microsoft.com/office/drawing/2014/main" id="{BA518A24-3BE4-45F3-80E7-A4D17F987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>
            <a:extLst>
              <a:ext uri="{FF2B5EF4-FFF2-40B4-BE49-F238E27FC236}">
                <a16:creationId xmlns:a16="http://schemas.microsoft.com/office/drawing/2014/main" id="{625E7288-8582-4631-BA51-F7913D31B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>
            <a:extLst>
              <a:ext uri="{FF2B5EF4-FFF2-40B4-BE49-F238E27FC236}">
                <a16:creationId xmlns:a16="http://schemas.microsoft.com/office/drawing/2014/main" id="{214DD86F-9356-4959-9851-D4A9B0A8877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>
            <a:extLst>
              <a:ext uri="{FF2B5EF4-FFF2-40B4-BE49-F238E27FC236}">
                <a16:creationId xmlns:a16="http://schemas.microsoft.com/office/drawing/2014/main" id="{C4E356EF-4605-48B6-80DF-70597A3EB70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>
            <a:extLst>
              <a:ext uri="{FF2B5EF4-FFF2-40B4-BE49-F238E27FC236}">
                <a16:creationId xmlns:a16="http://schemas.microsoft.com/office/drawing/2014/main" id="{00591864-5CC0-436E-A9F9-FEE444E2CDC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52AF26C1-7F7A-40B1-B5A5-B63B1D311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2681D046-A1E7-4046-9388-FFCC84113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marR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5C833862-1B9C-4D9D-90EC-BE1005C3E54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9" name="Google Shape;9;p1">
            <a:extLst>
              <a:ext uri="{FF2B5EF4-FFF2-40B4-BE49-F238E27FC236}">
                <a16:creationId xmlns:a16="http://schemas.microsoft.com/office/drawing/2014/main" id="{8BCD3C03-A4BA-445B-8B70-5F0ADD87318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10" name="Google Shape;10;p1">
            <a:extLst>
              <a:ext uri="{FF2B5EF4-FFF2-40B4-BE49-F238E27FC236}">
                <a16:creationId xmlns:a16="http://schemas.microsoft.com/office/drawing/2014/main" id="{4704B7D3-97EE-43D7-ABD4-FFD1790577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D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rand-accent">
            <a:extLst>
              <a:ext uri="{FF2B5EF4-FFF2-40B4-BE49-F238E27FC236}">
                <a16:creationId xmlns:a16="http://schemas.microsoft.com/office/drawing/2014/main" id="{01ADC735-6380-4D6E-8B70-B0362E76CE9F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66675" cy="495300"/>
          </a:xfrm>
          <a:prstGeom prst="rect">
            <a:avLst/>
          </a:prstGeom>
          <a:solidFill>
            <a:srgbClr val="D6A82E"/>
          </a:solidFill>
          <a:ln w="0">
            <a:noFill/>
            <a:prstDash val="solid"/>
          </a:ln>
        </p:spPr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D102802B-6327-496C-84BD-CD1FC3CE0998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4762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D6A8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6A82E"/>
                </a:solidFill>
                <a:latin typeface="Arial"/>
                <a:ea typeface="Arial"/>
                <a:cs typeface="Arial"/>
              </a:rPr>
              <a:t>PRODUCT OWNER PERSPECTIVE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2F7A7F8C-FCCE-417F-ADDC-A9699CF3FF88}"/>
              </a:ext>
            </a:extLst>
          </p:cNvPr>
          <p:cNvSpPr>
            <a:spLocks noGrp="1"/>
          </p:cNvSpPr>
          <p:nvPr/>
        </p:nvSpPr>
        <p:spPr>
          <a:xfrm>
            <a:off x="781050" y="685800"/>
            <a:ext cx="10668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118"/>
          </a:bodyPr>
          <a:lstStyle/>
          <a:p>
            <a:pPr algn="l">
              <a:lnSpc>
                <a:spcPct val="90000"/>
              </a:lnSpc>
              <a:buNone/>
              <a:defRPr sz="3450" b="1">
                <a:solidFill>
                  <a:srgbClr val="5B9AE6"/>
                </a:solidFill>
                <a:latin typeface="Arial"/>
                <a:ea typeface="Arial"/>
                <a:cs typeface="Arial"/>
              </a:defRPr>
            </a:pPr>
            <a:r>
              <a:rPr lang="en-US" sz="3450" b="1" dirty="0">
                <a:solidFill>
                  <a:srgbClr val="5B9AE6"/>
                </a:solidFill>
                <a:latin typeface="Arial"/>
                <a:ea typeface="Arial"/>
                <a:cs typeface="Arial"/>
              </a:rPr>
              <a:t>We are in a attention economy – and it is monetarized either into a physical products, arts, NFTS or Crypto</a:t>
            </a:r>
            <a:r>
              <a:rPr sz="3450" b="1" dirty="0">
                <a:solidFill>
                  <a:srgbClr val="5B9AE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FE71D0F3-9F48-46B3-B949-07B32774C990}"/>
              </a:ext>
            </a:extLst>
          </p:cNvPr>
          <p:cNvSpPr>
            <a:spLocks noGrp="1"/>
          </p:cNvSpPr>
          <p:nvPr/>
        </p:nvSpPr>
        <p:spPr>
          <a:xfrm>
            <a:off x="781050" y="1609725"/>
            <a:ext cx="10429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6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Tweeter, there is funny hair guy doing fist fight in his shorts vid, it got viral. </a:t>
            </a:r>
          </a:p>
          <a:p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6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the attention monetized into coin market value.</a:t>
            </a:r>
            <a:endParaRPr sz="165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arget-user">
            <a:extLst>
              <a:ext uri="{FF2B5EF4-FFF2-40B4-BE49-F238E27FC236}">
                <a16:creationId xmlns:a16="http://schemas.microsoft.com/office/drawing/2014/main" id="{8F0DE975-CC7E-439F-A078-D11D2D73760D}"/>
              </a:ext>
            </a:extLst>
          </p:cNvPr>
          <p:cNvSpPr>
            <a:spLocks noGrp="1"/>
          </p:cNvSpPr>
          <p:nvPr/>
        </p:nvSpPr>
        <p:spPr>
          <a:xfrm>
            <a:off x="781050" y="2228850"/>
            <a:ext cx="914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9FB7D3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9FB7D3"/>
                </a:solidFill>
                <a:latin typeface="Arial"/>
                <a:ea typeface="Arial"/>
                <a:cs typeface="Arial"/>
              </a:rPr>
              <a:t>FOR HIGH-SPEED SOCIAL TRADERS HUNTING FOR ATTENTION OPPORTUNITY</a:t>
            </a:r>
          </a:p>
        </p:txBody>
      </p:sp>
      <p:sp>
        <p:nvSpPr>
          <p:cNvPr id="6" name="section-rule">
            <a:extLst>
              <a:ext uri="{FF2B5EF4-FFF2-40B4-BE49-F238E27FC236}">
                <a16:creationId xmlns:a16="http://schemas.microsoft.com/office/drawing/2014/main" id="{A14205FF-C3E6-43EB-B4B5-6F1BCF407EB3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10629900" cy="14288"/>
          </a:xfrm>
          <a:prstGeom prst="rect">
            <a:avLst/>
          </a:prstGeom>
          <a:solidFill>
            <a:srgbClr val="6F86B0"/>
          </a:solidFill>
          <a:ln w="0">
            <a:noFill/>
            <a:prstDash val="solid"/>
          </a:ln>
        </p:spPr>
      </p:sp>
      <p:sp>
        <p:nvSpPr>
          <p:cNvPr id="7" name="pain-number-01">
            <a:extLst>
              <a:ext uri="{FF2B5EF4-FFF2-40B4-BE49-F238E27FC236}">
                <a16:creationId xmlns:a16="http://schemas.microsoft.com/office/drawing/2014/main" id="{0E88B4BC-45A8-4D9B-BA2C-4A8280D988D2}"/>
              </a:ext>
            </a:extLst>
          </p:cNvPr>
          <p:cNvSpPr>
            <a:spLocks noGrp="1"/>
          </p:cNvSpPr>
          <p:nvPr/>
        </p:nvSpPr>
        <p:spPr>
          <a:xfrm>
            <a:off x="781050" y="285750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D6A8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A82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pain-title-01">
            <a:extLst>
              <a:ext uri="{FF2B5EF4-FFF2-40B4-BE49-F238E27FC236}">
                <a16:creationId xmlns:a16="http://schemas.microsoft.com/office/drawing/2014/main" id="{DF891627-F3CE-44F7-8556-66ABF9368058}"/>
              </a:ext>
            </a:extLst>
          </p:cNvPr>
          <p:cNvSpPr>
            <a:spLocks noGrp="1"/>
          </p:cNvSpPr>
          <p:nvPr/>
        </p:nvSpPr>
        <p:spPr>
          <a:xfrm>
            <a:off x="1178719" y="2886075"/>
            <a:ext cx="3095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7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Tweet(s)</a:t>
            </a:r>
            <a:endParaRPr sz="17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pain-number-02">
            <a:extLst>
              <a:ext uri="{FF2B5EF4-FFF2-40B4-BE49-F238E27FC236}">
                <a16:creationId xmlns:a16="http://schemas.microsoft.com/office/drawing/2014/main" id="{BCB28EEF-F7CF-4D5E-BFCF-9D766A8DBEBF}"/>
              </a:ext>
            </a:extLst>
          </p:cNvPr>
          <p:cNvSpPr>
            <a:spLocks noGrp="1"/>
          </p:cNvSpPr>
          <p:nvPr/>
        </p:nvSpPr>
        <p:spPr>
          <a:xfrm>
            <a:off x="3981450" y="285750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D6A8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A82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pain-number-03">
            <a:extLst>
              <a:ext uri="{FF2B5EF4-FFF2-40B4-BE49-F238E27FC236}">
                <a16:creationId xmlns:a16="http://schemas.microsoft.com/office/drawing/2014/main" id="{A55EF720-5CD5-4553-8123-9A81ADA0E145}"/>
              </a:ext>
            </a:extLst>
          </p:cNvPr>
          <p:cNvSpPr>
            <a:spLocks noGrp="1"/>
          </p:cNvSpPr>
          <p:nvPr/>
        </p:nvSpPr>
        <p:spPr>
          <a:xfrm>
            <a:off x="7715250" y="285750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D6A8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A82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pain-separator-1">
            <a:extLst>
              <a:ext uri="{FF2B5EF4-FFF2-40B4-BE49-F238E27FC236}">
                <a16:creationId xmlns:a16="http://schemas.microsoft.com/office/drawing/2014/main" id="{0AD85F98-76BF-4CD0-97F5-E90CCF192C8A}"/>
              </a:ext>
            </a:extLst>
          </p:cNvPr>
          <p:cNvSpPr>
            <a:spLocks noGrp="1"/>
          </p:cNvSpPr>
          <p:nvPr/>
        </p:nvSpPr>
        <p:spPr>
          <a:xfrm>
            <a:off x="3743325" y="2895600"/>
            <a:ext cx="14288" cy="1676400"/>
          </a:xfrm>
          <a:prstGeom prst="rect">
            <a:avLst/>
          </a:prstGeom>
          <a:solidFill>
            <a:srgbClr val="6F86B0"/>
          </a:solidFill>
          <a:ln w="0">
            <a:noFill/>
            <a:prstDash val="solid"/>
          </a:ln>
        </p:spPr>
      </p:sp>
      <p:sp>
        <p:nvSpPr>
          <p:cNvPr id="17" name="pain-separator-2">
            <a:extLst>
              <a:ext uri="{FF2B5EF4-FFF2-40B4-BE49-F238E27FC236}">
                <a16:creationId xmlns:a16="http://schemas.microsoft.com/office/drawing/2014/main" id="{206131EC-D80D-4081-8062-471ED8407E42}"/>
              </a:ext>
            </a:extLst>
          </p:cNvPr>
          <p:cNvSpPr>
            <a:spLocks noGrp="1"/>
          </p:cNvSpPr>
          <p:nvPr/>
        </p:nvSpPr>
        <p:spPr>
          <a:xfrm>
            <a:off x="7458075" y="2895600"/>
            <a:ext cx="14288" cy="1676400"/>
          </a:xfrm>
          <a:prstGeom prst="rect">
            <a:avLst/>
          </a:prstGeom>
          <a:solidFill>
            <a:srgbClr val="6F86B0"/>
          </a:solidFill>
          <a:ln w="0">
            <a:noFill/>
            <a:prstDash val="solid"/>
          </a:ln>
        </p:spPr>
      </p:sp>
      <p:sp>
        <p:nvSpPr>
          <p:cNvPr id="20" name="product-tagline">
            <a:extLst>
              <a:ext uri="{FF2B5EF4-FFF2-40B4-BE49-F238E27FC236}">
                <a16:creationId xmlns:a16="http://schemas.microsoft.com/office/drawing/2014/main" id="{B31D94A2-B10B-4328-8961-B47CF6528248}"/>
              </a:ext>
            </a:extLst>
          </p:cNvPr>
          <p:cNvSpPr>
            <a:spLocks noGrp="1"/>
          </p:cNvSpPr>
          <p:nvPr/>
        </p:nvSpPr>
        <p:spPr>
          <a:xfrm>
            <a:off x="3757613" y="6238875"/>
            <a:ext cx="7358062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400" b="1" i="0" dirty="0">
                <a:solidFill>
                  <a:srgbClr val="22B7C7"/>
                </a:solidFill>
                <a:latin typeface="Arial"/>
              </a:rPr>
              <a:t>MEME-FAST  •  Track where attention turns into money.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5D6A2CC-27D3-5411-6BA1-BB63BF83D4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761"/>
          <a:stretch/>
        </p:blipFill>
        <p:spPr>
          <a:xfrm>
            <a:off x="1145581" y="3192663"/>
            <a:ext cx="2283419" cy="325612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DAE1D71-6021-0C49-48EC-946A333B39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55741" b="34066"/>
          <a:stretch/>
        </p:blipFill>
        <p:spPr>
          <a:xfrm>
            <a:off x="4370330" y="3192663"/>
            <a:ext cx="2763221" cy="271938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B5E2096-0B70-5A5A-664A-D0E37361337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789" b="29738"/>
          <a:stretch/>
        </p:blipFill>
        <p:spPr>
          <a:xfrm>
            <a:off x="8058150" y="3208438"/>
            <a:ext cx="3268766" cy="2408036"/>
          </a:xfrm>
          <a:prstGeom prst="rect">
            <a:avLst/>
          </a:prstGeom>
        </p:spPr>
      </p:pic>
      <p:sp>
        <p:nvSpPr>
          <p:cNvPr id="27" name="pain-title-01">
            <a:extLst>
              <a:ext uri="{FF2B5EF4-FFF2-40B4-BE49-F238E27FC236}">
                <a16:creationId xmlns:a16="http://schemas.microsoft.com/office/drawing/2014/main" id="{0D696A50-2631-1C98-2256-6E112043835E}"/>
              </a:ext>
            </a:extLst>
          </p:cNvPr>
          <p:cNvSpPr>
            <a:spLocks noGrp="1"/>
          </p:cNvSpPr>
          <p:nvPr/>
        </p:nvSpPr>
        <p:spPr>
          <a:xfrm>
            <a:off x="4361776" y="2895432"/>
            <a:ext cx="3095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7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Economics</a:t>
            </a:r>
            <a:endParaRPr sz="17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pain-title-01">
            <a:extLst>
              <a:ext uri="{FF2B5EF4-FFF2-40B4-BE49-F238E27FC236}">
                <a16:creationId xmlns:a16="http://schemas.microsoft.com/office/drawing/2014/main" id="{F9A71BF3-46B5-B069-DFF1-CB22C3CDEE05}"/>
              </a:ext>
            </a:extLst>
          </p:cNvPr>
          <p:cNvSpPr>
            <a:spLocks noGrp="1"/>
          </p:cNvSpPr>
          <p:nvPr/>
        </p:nvSpPr>
        <p:spPr>
          <a:xfrm>
            <a:off x="8086725" y="2876551"/>
            <a:ext cx="3095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7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Utility</a:t>
            </a:r>
            <a:endParaRPr sz="17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product-tagline">
            <a:extLst>
              <a:ext uri="{FF2B5EF4-FFF2-40B4-BE49-F238E27FC236}">
                <a16:creationId xmlns:a16="http://schemas.microsoft.com/office/drawing/2014/main" id="{A6F401D6-BAF3-615A-1450-34E89FC82E2D}"/>
              </a:ext>
            </a:extLst>
          </p:cNvPr>
          <p:cNvSpPr>
            <a:spLocks noGrp="1"/>
          </p:cNvSpPr>
          <p:nvPr/>
        </p:nvSpPr>
        <p:spPr>
          <a:xfrm>
            <a:off x="9191625" y="2793949"/>
            <a:ext cx="116443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22B7C7"/>
                </a:solidFill>
                <a:latin typeface="Arial"/>
                <a:ea typeface="Arial"/>
                <a:cs typeface="Arial"/>
              </a:defRPr>
            </a:pPr>
            <a:r>
              <a:rPr lang="en-US" sz="1350" b="1" dirty="0">
                <a:solidFill>
                  <a:srgbClr val="22B7C7"/>
                </a:solidFill>
                <a:latin typeface="Arial"/>
                <a:ea typeface="Arial"/>
                <a:cs typeface="Arial"/>
              </a:rPr>
              <a:t>MEME-FAST</a:t>
            </a:r>
            <a:endParaRPr sz="1350" b="1" dirty="0">
              <a:solidFill>
                <a:srgbClr val="22B7C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3F3E11B-F78C-B4A0-61B4-9E1ED977950B}"/>
              </a:ext>
            </a:extLst>
          </p:cNvPr>
          <p:cNvSpPr/>
          <p:nvPr/>
        </p:nvSpPr>
        <p:spPr>
          <a:xfrm>
            <a:off x="4438650" y="5414963"/>
            <a:ext cx="667424" cy="309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30k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7B76DB4-98C0-B6C6-3D7D-8B31F361E637}"/>
              </a:ext>
            </a:extLst>
          </p:cNvPr>
          <p:cNvSpPr/>
          <p:nvPr/>
        </p:nvSpPr>
        <p:spPr>
          <a:xfrm>
            <a:off x="6439464" y="3419138"/>
            <a:ext cx="667512" cy="309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6.6 M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49AF8C6-36D0-FE1F-DC0F-AC449AFC22CE}"/>
              </a:ext>
            </a:extLst>
          </p:cNvPr>
          <p:cNvCxnSpPr/>
          <p:nvPr/>
        </p:nvCxnSpPr>
        <p:spPr>
          <a:xfrm flipV="1">
            <a:off x="5267325" y="4143375"/>
            <a:ext cx="1257300" cy="1285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5EFF7D21-14E9-875C-B8C7-813B1F83E03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9853" b="34440"/>
          <a:stretch/>
        </p:blipFill>
        <p:spPr>
          <a:xfrm>
            <a:off x="8918023" y="4996039"/>
            <a:ext cx="2876066" cy="107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153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D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78778EF-F2FF-CB96-8EBF-E3A1EA8070C2}"/>
              </a:ext>
            </a:extLst>
          </p:cNvPr>
          <p:cNvSpPr/>
          <p:nvPr/>
        </p:nvSpPr>
        <p:spPr>
          <a:xfrm>
            <a:off x="402336" y="438912"/>
            <a:ext cx="64008" cy="484632"/>
          </a:xfrm>
          <a:prstGeom prst="rect">
            <a:avLst/>
          </a:prstGeom>
          <a:solidFill>
            <a:srgbClr val="D6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2E3429-4C57-7035-AEDB-C4F2BB575D87}"/>
              </a:ext>
            </a:extLst>
          </p:cNvPr>
          <p:cNvSpPr txBox="1"/>
          <p:nvPr/>
        </p:nvSpPr>
        <p:spPr>
          <a:xfrm>
            <a:off x="658368" y="475488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>
                <a:solidFill>
                  <a:srgbClr val="D6A82E"/>
                </a:solidFill>
                <a:latin typeface="Arial"/>
              </a:rPr>
              <a:t>SOLUTION ARCHITECTURE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F36172-669C-D4AA-06B0-2B86D2BB99D1}"/>
              </a:ext>
            </a:extLst>
          </p:cNvPr>
          <p:cNvSpPr txBox="1"/>
          <p:nvPr/>
        </p:nvSpPr>
        <p:spPr>
          <a:xfrm>
            <a:off x="658368" y="71323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>
                <a:solidFill>
                  <a:srgbClr val="5B9AE6"/>
                </a:solidFill>
                <a:latin typeface="Arial"/>
              </a:rPr>
              <a:t>Follow attention until it becomes market activity.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1B67DC-DDA6-253B-EA29-57B9FB4FB70A}"/>
              </a:ext>
            </a:extLst>
          </p:cNvPr>
          <p:cNvSpPr txBox="1"/>
          <p:nvPr/>
        </p:nvSpPr>
        <p:spPr>
          <a:xfrm>
            <a:off x="658368" y="1399032"/>
            <a:ext cx="10149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20" b="0" i="0">
                <a:solidFill>
                  <a:srgbClr val="FFFFFF"/>
                </a:solidFill>
                <a:latin typeface="Arial"/>
              </a:rPr>
              <a:t>MEME-FAST connects the narrative, the token and the actual flow.</a:t>
            </a:r>
          </a:p>
        </p:txBody>
      </p:sp>
      <p:sp>
        <p:nvSpPr>
          <p:cNvPr id="28" name="Rounded Rectangle 5">
            <a:extLst>
              <a:ext uri="{FF2B5EF4-FFF2-40B4-BE49-F238E27FC236}">
                <a16:creationId xmlns:a16="http://schemas.microsoft.com/office/drawing/2014/main" id="{FEE6E863-710F-8239-1863-EC3157DE149E}"/>
              </a:ext>
            </a:extLst>
          </p:cNvPr>
          <p:cNvSpPr/>
          <p:nvPr/>
        </p:nvSpPr>
        <p:spPr>
          <a:xfrm>
            <a:off x="530352" y="1993392"/>
            <a:ext cx="11137392" cy="3337560"/>
          </a:xfrm>
          <a:prstGeom prst="roundRect">
            <a:avLst/>
          </a:prstGeom>
          <a:solidFill>
            <a:srgbClr val="C6D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1E4BA6-EA67-5C95-40E2-7EB44B80CB27}"/>
              </a:ext>
            </a:extLst>
          </p:cNvPr>
          <p:cNvSpPr txBox="1"/>
          <p:nvPr/>
        </p:nvSpPr>
        <p:spPr>
          <a:xfrm>
            <a:off x="10149840" y="2112264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7A96B6"/>
                </a:solidFill>
                <a:latin typeface="Arial"/>
              </a:rPr>
              <a:t>SYSTEM FLOW</a:t>
            </a:r>
          </a:p>
        </p:txBody>
      </p:sp>
      <p:sp>
        <p:nvSpPr>
          <p:cNvPr id="30" name="Rounded Rectangle 7">
            <a:extLst>
              <a:ext uri="{FF2B5EF4-FFF2-40B4-BE49-F238E27FC236}">
                <a16:creationId xmlns:a16="http://schemas.microsoft.com/office/drawing/2014/main" id="{01343670-D995-4776-877D-600F7A49192E}"/>
              </a:ext>
            </a:extLst>
          </p:cNvPr>
          <p:cNvSpPr/>
          <p:nvPr/>
        </p:nvSpPr>
        <p:spPr>
          <a:xfrm>
            <a:off x="758952" y="2395728"/>
            <a:ext cx="2212848" cy="2496312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B1C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31BAEC9-C989-9689-BE88-25C950FF66F5}"/>
              </a:ext>
            </a:extLst>
          </p:cNvPr>
          <p:cNvSpPr/>
          <p:nvPr/>
        </p:nvSpPr>
        <p:spPr>
          <a:xfrm>
            <a:off x="905256" y="2578608"/>
            <a:ext cx="356616" cy="356616"/>
          </a:xfrm>
          <a:prstGeom prst="ellipse">
            <a:avLst/>
          </a:prstGeom>
          <a:solidFill>
            <a:srgbClr val="D6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DCBB16-D03D-3119-5854-5EDC322517CC}"/>
              </a:ext>
            </a:extLst>
          </p:cNvPr>
          <p:cNvSpPr txBox="1"/>
          <p:nvPr/>
        </p:nvSpPr>
        <p:spPr>
          <a:xfrm>
            <a:off x="905256" y="2587751"/>
            <a:ext cx="356616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02D64"/>
                </a:solidFill>
                <a:latin typeface="Arial"/>
              </a:rPr>
              <a:t>01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CA72AE-2875-046E-8F49-1074B91AA596}"/>
              </a:ext>
            </a:extLst>
          </p:cNvPr>
          <p:cNvSpPr txBox="1"/>
          <p:nvPr/>
        </p:nvSpPr>
        <p:spPr>
          <a:xfrm>
            <a:off x="923544" y="3044952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 i="0">
                <a:solidFill>
                  <a:srgbClr val="172451"/>
                </a:solidFill>
                <a:latin typeface="Arial"/>
              </a:rPr>
              <a:t>ATTENTION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B67E6D-A3EA-23CD-7EE3-C887D10E9C9B}"/>
              </a:ext>
            </a:extLst>
          </p:cNvPr>
          <p:cNvSpPr txBox="1"/>
          <p:nvPr/>
        </p:nvSpPr>
        <p:spPr>
          <a:xfrm>
            <a:off x="923544" y="3456432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4456F"/>
                </a:solidFill>
                <a:latin typeface="Arial"/>
              </a:rPr>
              <a:t>News • stories • social leads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41F9DD-A17B-EF4E-A6E5-2278F0EE1FF2}"/>
              </a:ext>
            </a:extLst>
          </p:cNvPr>
          <p:cNvSpPr txBox="1"/>
          <p:nvPr/>
        </p:nvSpPr>
        <p:spPr>
          <a:xfrm>
            <a:off x="923544" y="4315968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172451"/>
                </a:solidFill>
                <a:latin typeface="Arial"/>
              </a:rPr>
              <a:t>What is getting noticed?</a:t>
            </a:r>
          </a:p>
        </p:txBody>
      </p:sp>
      <p:sp>
        <p:nvSpPr>
          <p:cNvPr id="45" name="Right Arrow 13">
            <a:extLst>
              <a:ext uri="{FF2B5EF4-FFF2-40B4-BE49-F238E27FC236}">
                <a16:creationId xmlns:a16="http://schemas.microsoft.com/office/drawing/2014/main" id="{3EF1024F-7043-BB65-6143-1ADC5C06936E}"/>
              </a:ext>
            </a:extLst>
          </p:cNvPr>
          <p:cNvSpPr/>
          <p:nvPr/>
        </p:nvSpPr>
        <p:spPr>
          <a:xfrm>
            <a:off x="3054096" y="3456432"/>
            <a:ext cx="237744" cy="310896"/>
          </a:xfrm>
          <a:prstGeom prst="rightArrow">
            <a:avLst/>
          </a:prstGeom>
          <a:solidFill>
            <a:srgbClr val="22B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14">
            <a:extLst>
              <a:ext uri="{FF2B5EF4-FFF2-40B4-BE49-F238E27FC236}">
                <a16:creationId xmlns:a16="http://schemas.microsoft.com/office/drawing/2014/main" id="{2BEECE52-9E4B-6785-EC38-1C1818EF8536}"/>
              </a:ext>
            </a:extLst>
          </p:cNvPr>
          <p:cNvSpPr/>
          <p:nvPr/>
        </p:nvSpPr>
        <p:spPr>
          <a:xfrm>
            <a:off x="3410712" y="2395728"/>
            <a:ext cx="2212848" cy="2496312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B1C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2E7A3F1-AA91-3B59-231D-AF140158EB17}"/>
              </a:ext>
            </a:extLst>
          </p:cNvPr>
          <p:cNvSpPr/>
          <p:nvPr/>
        </p:nvSpPr>
        <p:spPr>
          <a:xfrm>
            <a:off x="3557016" y="2578608"/>
            <a:ext cx="356616" cy="356616"/>
          </a:xfrm>
          <a:prstGeom prst="ellipse">
            <a:avLst/>
          </a:prstGeom>
          <a:solidFill>
            <a:srgbClr val="D6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5AF3C5F-44EF-292E-00A1-C7CA1C188555}"/>
              </a:ext>
            </a:extLst>
          </p:cNvPr>
          <p:cNvSpPr txBox="1"/>
          <p:nvPr/>
        </p:nvSpPr>
        <p:spPr>
          <a:xfrm>
            <a:off x="3557016" y="2587751"/>
            <a:ext cx="356616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02D64"/>
                </a:solidFill>
                <a:latin typeface="Arial"/>
              </a:rPr>
              <a:t>02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BFB17A1-E43D-4A0F-181F-09FA7F826B96}"/>
              </a:ext>
            </a:extLst>
          </p:cNvPr>
          <p:cNvSpPr txBox="1"/>
          <p:nvPr/>
        </p:nvSpPr>
        <p:spPr>
          <a:xfrm>
            <a:off x="3575304" y="3044952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 i="0">
                <a:solidFill>
                  <a:srgbClr val="172451"/>
                </a:solidFill>
                <a:latin typeface="Arial"/>
              </a:rPr>
              <a:t>TOKEN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7E4769C-7B9A-0CF7-389D-AA2FB7579D75}"/>
              </a:ext>
            </a:extLst>
          </p:cNvPr>
          <p:cNvSpPr txBox="1"/>
          <p:nvPr/>
        </p:nvSpPr>
        <p:spPr>
          <a:xfrm>
            <a:off x="3575304" y="3456432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4456F"/>
                </a:solidFill>
                <a:latin typeface="Arial"/>
              </a:rPr>
              <a:t>Fresh Solana / Base pools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B1B34D-47A7-DF0F-D45B-43831EAFF2A3}"/>
              </a:ext>
            </a:extLst>
          </p:cNvPr>
          <p:cNvSpPr txBox="1"/>
          <p:nvPr/>
        </p:nvSpPr>
        <p:spPr>
          <a:xfrm>
            <a:off x="3575304" y="4315968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172451"/>
                </a:solidFill>
                <a:latin typeface="Arial"/>
              </a:rPr>
              <a:t>Where did the attention land?</a:t>
            </a:r>
          </a:p>
        </p:txBody>
      </p:sp>
      <p:sp>
        <p:nvSpPr>
          <p:cNvPr id="52" name="Right Arrow 20">
            <a:extLst>
              <a:ext uri="{FF2B5EF4-FFF2-40B4-BE49-F238E27FC236}">
                <a16:creationId xmlns:a16="http://schemas.microsoft.com/office/drawing/2014/main" id="{0629AE0F-17A5-2C41-074F-329DAC9F8790}"/>
              </a:ext>
            </a:extLst>
          </p:cNvPr>
          <p:cNvSpPr/>
          <p:nvPr/>
        </p:nvSpPr>
        <p:spPr>
          <a:xfrm>
            <a:off x="5705856" y="3456432"/>
            <a:ext cx="237744" cy="310896"/>
          </a:xfrm>
          <a:prstGeom prst="rightArrow">
            <a:avLst/>
          </a:prstGeom>
          <a:solidFill>
            <a:srgbClr val="22B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21">
            <a:extLst>
              <a:ext uri="{FF2B5EF4-FFF2-40B4-BE49-F238E27FC236}">
                <a16:creationId xmlns:a16="http://schemas.microsoft.com/office/drawing/2014/main" id="{0F4D45D8-B5AD-7527-7B53-1172CF809431}"/>
              </a:ext>
            </a:extLst>
          </p:cNvPr>
          <p:cNvSpPr/>
          <p:nvPr/>
        </p:nvSpPr>
        <p:spPr>
          <a:xfrm>
            <a:off x="6062472" y="2395728"/>
            <a:ext cx="2212848" cy="2496312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B1C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8F019B4-BDE9-A164-C5AA-52BE554B7F53}"/>
              </a:ext>
            </a:extLst>
          </p:cNvPr>
          <p:cNvSpPr/>
          <p:nvPr/>
        </p:nvSpPr>
        <p:spPr>
          <a:xfrm>
            <a:off x="6208776" y="2578608"/>
            <a:ext cx="356616" cy="356616"/>
          </a:xfrm>
          <a:prstGeom prst="ellipse">
            <a:avLst/>
          </a:prstGeom>
          <a:solidFill>
            <a:srgbClr val="D6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D1762E-DA28-8A63-7C9C-7BB1A3AA6EB0}"/>
              </a:ext>
            </a:extLst>
          </p:cNvPr>
          <p:cNvSpPr txBox="1"/>
          <p:nvPr/>
        </p:nvSpPr>
        <p:spPr>
          <a:xfrm>
            <a:off x="6208776" y="2587751"/>
            <a:ext cx="356616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02D64"/>
                </a:solidFill>
                <a:latin typeface="Arial"/>
              </a:rPr>
              <a:t>03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6F7DB9F-FD60-C106-B63A-D3E75961B562}"/>
              </a:ext>
            </a:extLst>
          </p:cNvPr>
          <p:cNvSpPr txBox="1"/>
          <p:nvPr/>
        </p:nvSpPr>
        <p:spPr>
          <a:xfrm>
            <a:off x="6227064" y="3044952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 i="0">
                <a:solidFill>
                  <a:srgbClr val="172451"/>
                </a:solidFill>
                <a:latin typeface="Arial"/>
              </a:rPr>
              <a:t>PARTICIPATION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53614FF-E684-5F06-2EB7-7B7599B379BC}"/>
              </a:ext>
            </a:extLst>
          </p:cNvPr>
          <p:cNvSpPr txBox="1"/>
          <p:nvPr/>
        </p:nvSpPr>
        <p:spPr>
          <a:xfrm>
            <a:off x="6227064" y="3456432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4456F"/>
                </a:solidFill>
                <a:latin typeface="Arial"/>
              </a:rPr>
              <a:t>Liquidity • volume • buys / sells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8992A8A-D34C-4754-3F52-76F770FBDF1D}"/>
              </a:ext>
            </a:extLst>
          </p:cNvPr>
          <p:cNvSpPr txBox="1"/>
          <p:nvPr/>
        </p:nvSpPr>
        <p:spPr>
          <a:xfrm>
            <a:off x="6227064" y="4315968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172451"/>
                </a:solidFill>
                <a:latin typeface="Arial"/>
              </a:rPr>
              <a:t>Is money actually moving?</a:t>
            </a:r>
          </a:p>
        </p:txBody>
      </p:sp>
      <p:sp>
        <p:nvSpPr>
          <p:cNvPr id="59" name="Right Arrow 27">
            <a:extLst>
              <a:ext uri="{FF2B5EF4-FFF2-40B4-BE49-F238E27FC236}">
                <a16:creationId xmlns:a16="http://schemas.microsoft.com/office/drawing/2014/main" id="{BEDC375C-46A4-4B43-B494-040BECAF4E55}"/>
              </a:ext>
            </a:extLst>
          </p:cNvPr>
          <p:cNvSpPr/>
          <p:nvPr/>
        </p:nvSpPr>
        <p:spPr>
          <a:xfrm>
            <a:off x="8357616" y="3456432"/>
            <a:ext cx="237744" cy="310896"/>
          </a:xfrm>
          <a:prstGeom prst="rightArrow">
            <a:avLst/>
          </a:prstGeom>
          <a:solidFill>
            <a:srgbClr val="22B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28">
            <a:extLst>
              <a:ext uri="{FF2B5EF4-FFF2-40B4-BE49-F238E27FC236}">
                <a16:creationId xmlns:a16="http://schemas.microsoft.com/office/drawing/2014/main" id="{68D5BEC8-86BE-9F79-370E-5922E54EBE0D}"/>
              </a:ext>
            </a:extLst>
          </p:cNvPr>
          <p:cNvSpPr/>
          <p:nvPr/>
        </p:nvSpPr>
        <p:spPr>
          <a:xfrm>
            <a:off x="8714232" y="2395728"/>
            <a:ext cx="2212848" cy="2496312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B1C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78E52EE-4101-1AFD-78BB-3728BCF37B31}"/>
              </a:ext>
            </a:extLst>
          </p:cNvPr>
          <p:cNvSpPr/>
          <p:nvPr/>
        </p:nvSpPr>
        <p:spPr>
          <a:xfrm>
            <a:off x="8860536" y="2578608"/>
            <a:ext cx="356616" cy="356616"/>
          </a:xfrm>
          <a:prstGeom prst="ellipse">
            <a:avLst/>
          </a:prstGeom>
          <a:solidFill>
            <a:srgbClr val="D6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B9764F7-52E8-BBE2-16D6-D96BFE93728D}"/>
              </a:ext>
            </a:extLst>
          </p:cNvPr>
          <p:cNvSpPr txBox="1"/>
          <p:nvPr/>
        </p:nvSpPr>
        <p:spPr>
          <a:xfrm>
            <a:off x="8860536" y="2587751"/>
            <a:ext cx="356616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02D64"/>
                </a:solidFill>
                <a:latin typeface="Arial"/>
              </a:rPr>
              <a:t>04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6E6E7C9-C74B-253C-8FB3-AC45A7552AAC}"/>
              </a:ext>
            </a:extLst>
          </p:cNvPr>
          <p:cNvSpPr txBox="1"/>
          <p:nvPr/>
        </p:nvSpPr>
        <p:spPr>
          <a:xfrm>
            <a:off x="8878824" y="3044952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 i="0">
                <a:solidFill>
                  <a:srgbClr val="172451"/>
                </a:solidFill>
                <a:latin typeface="Arial"/>
              </a:rPr>
              <a:t>FOCUS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6A72752-749D-7C31-6FE1-DA53EAA1D7EC}"/>
              </a:ext>
            </a:extLst>
          </p:cNvPr>
          <p:cNvSpPr txBox="1"/>
          <p:nvPr/>
        </p:nvSpPr>
        <p:spPr>
          <a:xfrm>
            <a:off x="8878824" y="3456432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4456F"/>
                </a:solidFill>
                <a:latin typeface="Arial"/>
              </a:rPr>
              <a:t>Order flow • watchlist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A6CCB31-0CDE-BB88-807F-62D94B92D8A9}"/>
              </a:ext>
            </a:extLst>
          </p:cNvPr>
          <p:cNvSpPr txBox="1"/>
          <p:nvPr/>
        </p:nvSpPr>
        <p:spPr>
          <a:xfrm>
            <a:off x="8878824" y="4315968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172451"/>
                </a:solidFill>
                <a:latin typeface="Arial"/>
              </a:rPr>
              <a:t>What deserves a closer look?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4B73955-DC73-0DEE-B401-51A3CB82E0F5}"/>
              </a:ext>
            </a:extLst>
          </p:cNvPr>
          <p:cNvSpPr txBox="1"/>
          <p:nvPr/>
        </p:nvSpPr>
        <p:spPr>
          <a:xfrm>
            <a:off x="685800" y="5650992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ATTENTION  →  TOKEN  →  PARTICIPATION  →  FOCUS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4CF5703-FFFE-4690-9229-8D1FEA90F15F}"/>
              </a:ext>
            </a:extLst>
          </p:cNvPr>
          <p:cNvSpPr txBox="1"/>
          <p:nvPr/>
        </p:nvSpPr>
        <p:spPr>
          <a:xfrm>
            <a:off x="8247888" y="569671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20" b="1" i="0">
                <a:solidFill>
                  <a:srgbClr val="9FB7D3"/>
                </a:solidFill>
                <a:latin typeface="Arial"/>
              </a:rPr>
              <a:t>5-minute scan  •  Solana + Base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FABFF4-AAE1-BF79-9E7B-174F7BB40EB6}"/>
              </a:ext>
            </a:extLst>
          </p:cNvPr>
          <p:cNvSpPr txBox="1"/>
          <p:nvPr/>
        </p:nvSpPr>
        <p:spPr>
          <a:xfrm>
            <a:off x="685800" y="6153912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22B7C7"/>
                </a:solidFill>
                <a:latin typeface="Arial"/>
              </a:rPr>
              <a:t>Product concept, requirements and build: Benedict Yong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7F92F3C-3272-1955-378D-D0F3B4D6252C}"/>
              </a:ext>
            </a:extLst>
          </p:cNvPr>
          <p:cNvSpPr txBox="1"/>
          <p:nvPr/>
        </p:nvSpPr>
        <p:spPr>
          <a:xfrm>
            <a:off x="7726679" y="6153912"/>
            <a:ext cx="37673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19" b="0" i="0">
                <a:solidFill>
                  <a:srgbClr val="9FB7D3"/>
                </a:solidFill>
                <a:latin typeface="Arial"/>
              </a:rPr>
              <a:t>AI-assisted development with Claude and Codex</a:t>
            </a:r>
          </a:p>
        </p:txBody>
      </p:sp>
    </p:spTree>
    <p:extLst>
      <p:ext uri="{BB962C8B-B14F-4D97-AF65-F5344CB8AC3E}">
        <p14:creationId xmlns:p14="http://schemas.microsoft.com/office/powerpoint/2010/main" val="1048153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D64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5235F-50D0-42FA-43CD-6672131F4214}"/>
              </a:ext>
            </a:extLst>
          </p:cNvPr>
          <p:cNvSpPr/>
          <p:nvPr/>
        </p:nvSpPr>
        <p:spPr>
          <a:xfrm>
            <a:off x="402336" y="438912"/>
            <a:ext cx="64008" cy="484632"/>
          </a:xfrm>
          <a:prstGeom prst="rect">
            <a:avLst/>
          </a:prstGeom>
          <a:solidFill>
            <a:srgbClr val="D6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6F7C36-DEEF-0F4F-FCA6-E1CFC5A37D37}"/>
              </a:ext>
            </a:extLst>
          </p:cNvPr>
          <p:cNvSpPr txBox="1"/>
          <p:nvPr/>
        </p:nvSpPr>
        <p:spPr>
          <a:xfrm>
            <a:off x="658368" y="475488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dirty="0">
                <a:solidFill>
                  <a:srgbClr val="D6A82E"/>
                </a:solidFill>
                <a:latin typeface="Arial"/>
              </a:rPr>
              <a:t>SOLUTION ARCHITECTURE</a:t>
            </a:r>
          </a:p>
        </p:txBody>
      </p:sp>
      <p:cxnSp>
        <p:nvCxnSpPr>
          <p:cNvPr id="94" name="Connector 44">
            <a:extLst>
              <a:ext uri="{FF2B5EF4-FFF2-40B4-BE49-F238E27FC236}">
                <a16:creationId xmlns:a16="http://schemas.microsoft.com/office/drawing/2014/main" id="{A4EFF4C2-507B-0194-B4E8-395A86DFE43A}"/>
              </a:ext>
            </a:extLst>
          </p:cNvPr>
          <p:cNvCxnSpPr/>
          <p:nvPr/>
        </p:nvCxnSpPr>
        <p:spPr>
          <a:xfrm>
            <a:off x="658368" y="5577840"/>
            <a:ext cx="10863072" cy="0"/>
          </a:xfrm>
          <a:prstGeom prst="line">
            <a:avLst/>
          </a:prstGeom>
          <a:ln w="13970">
            <a:solidFill>
              <a:srgbClr val="6F8E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16BFD35A-2543-5C75-B1D5-CD5B7D15448F}"/>
              </a:ext>
            </a:extLst>
          </p:cNvPr>
          <p:cNvSpPr txBox="1"/>
          <p:nvPr/>
        </p:nvSpPr>
        <p:spPr>
          <a:xfrm>
            <a:off x="658368" y="5779008"/>
            <a:ext cx="12344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9FB7D3"/>
                </a:solidFill>
                <a:latin typeface="Arial"/>
              </a:rPr>
              <a:t>Connected today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B45EFBE-A008-666F-7205-A1D479277AA2}"/>
              </a:ext>
            </a:extLst>
          </p:cNvPr>
          <p:cNvSpPr txBox="1"/>
          <p:nvPr/>
        </p:nvSpPr>
        <p:spPr>
          <a:xfrm>
            <a:off x="1901952" y="5760720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  <a:latin typeface="Arial"/>
              </a:rPr>
              <a:t>Public news • Solana / Base pools • observed swap flow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C6338BD-0098-DAD0-70A2-2BF39346EF37}"/>
              </a:ext>
            </a:extLst>
          </p:cNvPr>
          <p:cNvSpPr txBox="1"/>
          <p:nvPr/>
        </p:nvSpPr>
        <p:spPr>
          <a:xfrm>
            <a:off x="8065008" y="5760720"/>
            <a:ext cx="34564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30" b="0" i="0" dirty="0">
                <a:solidFill>
                  <a:srgbClr val="9FB7D3"/>
                </a:solidFill>
                <a:latin typeface="Arial"/>
              </a:rPr>
              <a:t>X watchlist: planned, not connected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ABEE66A-0213-9529-C259-654F068EC745}"/>
              </a:ext>
            </a:extLst>
          </p:cNvPr>
          <p:cNvSpPr txBox="1"/>
          <p:nvPr/>
        </p:nvSpPr>
        <p:spPr>
          <a:xfrm>
            <a:off x="8183879" y="6144768"/>
            <a:ext cx="33375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 dirty="0">
                <a:solidFill>
                  <a:srgbClr val="22B7C7"/>
                </a:solidFill>
                <a:latin typeface="Arial"/>
              </a:rPr>
              <a:t>AI-assisted build: Claude + Codex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9FDB901-7DA2-01E4-EE7E-96517CA27AFE}"/>
              </a:ext>
            </a:extLst>
          </p:cNvPr>
          <p:cNvSpPr txBox="1"/>
          <p:nvPr/>
        </p:nvSpPr>
        <p:spPr>
          <a:xfrm>
            <a:off x="630936" y="667512"/>
            <a:ext cx="1060704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800" b="1">
                <a:solidFill>
                  <a:srgbClr val="5B9AE6"/>
                </a:solidFill>
                <a:latin typeface="Arial"/>
              </a:rPr>
              <a:t>The stack behind MEME-FAST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A0CFF8D-1AFE-CFB5-425C-3D833609D872}"/>
              </a:ext>
            </a:extLst>
          </p:cNvPr>
          <p:cNvSpPr txBox="1"/>
          <p:nvPr/>
        </p:nvSpPr>
        <p:spPr>
          <a:xfrm>
            <a:off x="630936" y="1252728"/>
            <a:ext cx="10515600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Public feeds + market APIs + lightweight browser logic, deployed as one fast research tool.</a:t>
            </a:r>
          </a:p>
        </p:txBody>
      </p:sp>
      <p:sp>
        <p:nvSpPr>
          <p:cNvPr id="102" name="Rounded Rectangle 5">
            <a:extLst>
              <a:ext uri="{FF2B5EF4-FFF2-40B4-BE49-F238E27FC236}">
                <a16:creationId xmlns:a16="http://schemas.microsoft.com/office/drawing/2014/main" id="{2018B894-F548-BF95-0C92-166DB03CC2F7}"/>
              </a:ext>
            </a:extLst>
          </p:cNvPr>
          <p:cNvSpPr/>
          <p:nvPr/>
        </p:nvSpPr>
        <p:spPr>
          <a:xfrm>
            <a:off x="530352" y="1764792"/>
            <a:ext cx="11128248" cy="3675887"/>
          </a:xfrm>
          <a:prstGeom prst="roundRect">
            <a:avLst/>
          </a:prstGeom>
          <a:solidFill>
            <a:srgbClr val="C6D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406646B-B1B9-C89E-1317-9E985EB00944}"/>
              </a:ext>
            </a:extLst>
          </p:cNvPr>
          <p:cNvSpPr txBox="1"/>
          <p:nvPr/>
        </p:nvSpPr>
        <p:spPr>
          <a:xfrm>
            <a:off x="827151" y="1938528"/>
            <a:ext cx="2359152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>
                <a:solidFill>
                  <a:srgbClr val="172451"/>
                </a:solidFill>
                <a:latin typeface="Arial"/>
              </a:rPr>
              <a:t>DATA SOURCES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C9DC918-773E-5D30-3236-85DB642F54B1}"/>
              </a:ext>
            </a:extLst>
          </p:cNvPr>
          <p:cNvSpPr txBox="1"/>
          <p:nvPr/>
        </p:nvSpPr>
        <p:spPr>
          <a:xfrm>
            <a:off x="827151" y="2221992"/>
            <a:ext cx="2359152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30" b="0">
                <a:solidFill>
                  <a:srgbClr val="34456F"/>
                </a:solidFill>
                <a:latin typeface="Arial"/>
              </a:rPr>
              <a:t>External signals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A9E544B-99CA-77D4-EB02-DB6667FFFAB9}"/>
              </a:ext>
            </a:extLst>
          </p:cNvPr>
          <p:cNvSpPr txBox="1"/>
          <p:nvPr/>
        </p:nvSpPr>
        <p:spPr>
          <a:xfrm>
            <a:off x="4428363" y="1938528"/>
            <a:ext cx="2359152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>
                <a:solidFill>
                  <a:srgbClr val="172451"/>
                </a:solidFill>
                <a:latin typeface="Arial"/>
              </a:rPr>
              <a:t>INGEST + LOGIC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6E59B72-6BFD-2B31-1051-898C2109FF7F}"/>
              </a:ext>
            </a:extLst>
          </p:cNvPr>
          <p:cNvSpPr txBox="1"/>
          <p:nvPr/>
        </p:nvSpPr>
        <p:spPr>
          <a:xfrm>
            <a:off x="4428363" y="2221992"/>
            <a:ext cx="2359152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30" b="0">
                <a:solidFill>
                  <a:srgbClr val="34456F"/>
                </a:solidFill>
                <a:latin typeface="Arial"/>
              </a:rPr>
              <a:t>Turn raw feeds into context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9053C25-E684-8A0C-C1E2-D9C56843B73B}"/>
              </a:ext>
            </a:extLst>
          </p:cNvPr>
          <p:cNvSpPr txBox="1"/>
          <p:nvPr/>
        </p:nvSpPr>
        <p:spPr>
          <a:xfrm>
            <a:off x="8239887" y="1938528"/>
            <a:ext cx="2359152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>
                <a:solidFill>
                  <a:srgbClr val="172451"/>
                </a:solidFill>
                <a:latin typeface="Arial"/>
              </a:rPr>
              <a:t>FRONT END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8CA3EB2-1F95-D1E8-5695-8873910BD064}"/>
              </a:ext>
            </a:extLst>
          </p:cNvPr>
          <p:cNvSpPr txBox="1"/>
          <p:nvPr/>
        </p:nvSpPr>
        <p:spPr>
          <a:xfrm>
            <a:off x="8239887" y="2221992"/>
            <a:ext cx="2359152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30" b="0">
                <a:solidFill>
                  <a:srgbClr val="34456F"/>
                </a:solidFill>
                <a:latin typeface="Arial"/>
              </a:rPr>
              <a:t>Fast browser workspace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82C5C92-3295-5CC6-D0B7-2E480EA6EC18}"/>
              </a:ext>
            </a:extLst>
          </p:cNvPr>
          <p:cNvSpPr/>
          <p:nvPr/>
        </p:nvSpPr>
        <p:spPr>
          <a:xfrm>
            <a:off x="4227195" y="1938528"/>
            <a:ext cx="10972" cy="3182112"/>
          </a:xfrm>
          <a:prstGeom prst="rect">
            <a:avLst/>
          </a:prstGeom>
          <a:solidFill>
            <a:srgbClr val="9E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E6A227C-3B9A-FF05-D02D-ADDB6E8207A2}"/>
              </a:ext>
            </a:extLst>
          </p:cNvPr>
          <p:cNvSpPr/>
          <p:nvPr/>
        </p:nvSpPr>
        <p:spPr>
          <a:xfrm>
            <a:off x="8038719" y="1938528"/>
            <a:ext cx="10972" cy="3182112"/>
          </a:xfrm>
          <a:prstGeom prst="rect">
            <a:avLst/>
          </a:prstGeom>
          <a:solidFill>
            <a:srgbClr val="9E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7">
            <a:extLst>
              <a:ext uri="{FF2B5EF4-FFF2-40B4-BE49-F238E27FC236}">
                <a16:creationId xmlns:a16="http://schemas.microsoft.com/office/drawing/2014/main" id="{24C60EDB-51D9-2570-891C-1ED2A6596790}"/>
              </a:ext>
            </a:extLst>
          </p:cNvPr>
          <p:cNvSpPr/>
          <p:nvPr/>
        </p:nvSpPr>
        <p:spPr>
          <a:xfrm>
            <a:off x="827151" y="2688336"/>
            <a:ext cx="1051560" cy="310896"/>
          </a:xfrm>
          <a:prstGeom prst="roundRect">
            <a:avLst/>
          </a:prstGeom>
          <a:solidFill>
            <a:srgbClr val="D6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FB4F3CE-7DD9-14D5-4170-933C7F0AA815}"/>
              </a:ext>
            </a:extLst>
          </p:cNvPr>
          <p:cNvSpPr txBox="1"/>
          <p:nvPr/>
        </p:nvSpPr>
        <p:spPr>
          <a:xfrm>
            <a:off x="854583" y="2706624"/>
            <a:ext cx="996695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172451"/>
                </a:solidFill>
                <a:latin typeface="Arial"/>
              </a:rPr>
              <a:t>NEWS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BC603FC-92AF-B632-5A94-802A2F4ADD7E}"/>
              </a:ext>
            </a:extLst>
          </p:cNvPr>
          <p:cNvSpPr txBox="1"/>
          <p:nvPr/>
        </p:nvSpPr>
        <p:spPr>
          <a:xfrm>
            <a:off x="1988439" y="2660904"/>
            <a:ext cx="1069848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60" b="1">
                <a:solidFill>
                  <a:srgbClr val="172451"/>
                </a:solidFill>
                <a:latin typeface="Arial"/>
              </a:rPr>
              <a:t>Decrypt RSS
Cointelegraph RSS</a:t>
            </a:r>
          </a:p>
        </p:txBody>
      </p:sp>
      <p:sp>
        <p:nvSpPr>
          <p:cNvPr id="114" name="Rounded Rectangle 20">
            <a:extLst>
              <a:ext uri="{FF2B5EF4-FFF2-40B4-BE49-F238E27FC236}">
                <a16:creationId xmlns:a16="http://schemas.microsoft.com/office/drawing/2014/main" id="{2BD199A2-A646-8F22-8362-C823184B5EB5}"/>
              </a:ext>
            </a:extLst>
          </p:cNvPr>
          <p:cNvSpPr/>
          <p:nvPr/>
        </p:nvSpPr>
        <p:spPr>
          <a:xfrm>
            <a:off x="827151" y="3383280"/>
            <a:ext cx="1051560" cy="310896"/>
          </a:xfrm>
          <a:prstGeom prst="roundRect">
            <a:avLst/>
          </a:prstGeom>
          <a:solidFill>
            <a:srgbClr val="22B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3032466-2177-CAA9-AD12-8215AC9712FF}"/>
              </a:ext>
            </a:extLst>
          </p:cNvPr>
          <p:cNvSpPr txBox="1"/>
          <p:nvPr/>
        </p:nvSpPr>
        <p:spPr>
          <a:xfrm>
            <a:off x="854583" y="3401568"/>
            <a:ext cx="996695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172451"/>
                </a:solidFill>
                <a:latin typeface="Arial"/>
              </a:rPr>
              <a:t>MARKET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E3D1475-6565-CA71-533A-B23AAF81101B}"/>
              </a:ext>
            </a:extLst>
          </p:cNvPr>
          <p:cNvSpPr txBox="1"/>
          <p:nvPr/>
        </p:nvSpPr>
        <p:spPr>
          <a:xfrm>
            <a:off x="1988439" y="3374136"/>
            <a:ext cx="1069848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60" b="1">
                <a:solidFill>
                  <a:srgbClr val="172451"/>
                </a:solidFill>
                <a:latin typeface="Arial"/>
              </a:rPr>
              <a:t>GeckoTerminal
Solana + Base</a:t>
            </a:r>
          </a:p>
        </p:txBody>
      </p:sp>
      <p:sp>
        <p:nvSpPr>
          <p:cNvPr id="117" name="Rounded Rectangle 23">
            <a:extLst>
              <a:ext uri="{FF2B5EF4-FFF2-40B4-BE49-F238E27FC236}">
                <a16:creationId xmlns:a16="http://schemas.microsoft.com/office/drawing/2014/main" id="{FC0E0F45-C366-2F05-17AE-08BACD3F1E6E}"/>
              </a:ext>
            </a:extLst>
          </p:cNvPr>
          <p:cNvSpPr/>
          <p:nvPr/>
        </p:nvSpPr>
        <p:spPr>
          <a:xfrm>
            <a:off x="827151" y="4096512"/>
            <a:ext cx="1051560" cy="310896"/>
          </a:xfrm>
          <a:prstGeom prst="roundRect">
            <a:avLst/>
          </a:prstGeom>
          <a:solidFill>
            <a:srgbClr val="D9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3D744FF7-0597-0043-2F9C-64FA1943710C}"/>
              </a:ext>
            </a:extLst>
          </p:cNvPr>
          <p:cNvSpPr txBox="1"/>
          <p:nvPr/>
        </p:nvSpPr>
        <p:spPr>
          <a:xfrm>
            <a:off x="854583" y="4114800"/>
            <a:ext cx="996695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172451"/>
                </a:solidFill>
                <a:latin typeface="Arial"/>
              </a:rPr>
              <a:t>LOOKUP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A4E184E-1597-C35C-3058-393DAF21DFE5}"/>
              </a:ext>
            </a:extLst>
          </p:cNvPr>
          <p:cNvSpPr txBox="1"/>
          <p:nvPr/>
        </p:nvSpPr>
        <p:spPr>
          <a:xfrm>
            <a:off x="1988439" y="4087368"/>
            <a:ext cx="1069848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60" b="1">
                <a:solidFill>
                  <a:srgbClr val="172451"/>
                </a:solidFill>
                <a:latin typeface="Arial"/>
              </a:rPr>
              <a:t>DEX Screener
contract discovery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C3A96C5-C175-2B41-92EF-69AD3CFFCA76}"/>
              </a:ext>
            </a:extLst>
          </p:cNvPr>
          <p:cNvSpPr txBox="1"/>
          <p:nvPr/>
        </p:nvSpPr>
        <p:spPr>
          <a:xfrm>
            <a:off x="827151" y="4800600"/>
            <a:ext cx="2176272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10" b="1">
                <a:solidFill>
                  <a:srgbClr val="34456F"/>
                </a:solidFill>
                <a:latin typeface="Arial"/>
              </a:rPr>
              <a:t>PUBLIC + READ-ONLY DATA</a:t>
            </a:r>
          </a:p>
        </p:txBody>
      </p:sp>
      <p:sp>
        <p:nvSpPr>
          <p:cNvPr id="121" name="Rounded Rectangle 27">
            <a:extLst>
              <a:ext uri="{FF2B5EF4-FFF2-40B4-BE49-F238E27FC236}">
                <a16:creationId xmlns:a16="http://schemas.microsoft.com/office/drawing/2014/main" id="{045E01C4-573C-0384-50B8-2999EFFF4073}"/>
              </a:ext>
            </a:extLst>
          </p:cNvPr>
          <p:cNvSpPr/>
          <p:nvPr/>
        </p:nvSpPr>
        <p:spPr>
          <a:xfrm>
            <a:off x="4428363" y="2679192"/>
            <a:ext cx="932688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215F0C5-066A-57B2-6879-345E4793C845}"/>
              </a:ext>
            </a:extLst>
          </p:cNvPr>
          <p:cNvSpPr txBox="1"/>
          <p:nvPr/>
        </p:nvSpPr>
        <p:spPr>
          <a:xfrm>
            <a:off x="4455795" y="2697480"/>
            <a:ext cx="877824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60" b="1">
                <a:solidFill>
                  <a:srgbClr val="172451"/>
                </a:solidFill>
                <a:latin typeface="Arial"/>
              </a:rPr>
              <a:t>RSS2JSON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B0C7C7F-A005-F16B-A333-7BC761A574AF}"/>
              </a:ext>
            </a:extLst>
          </p:cNvPr>
          <p:cNvSpPr txBox="1"/>
          <p:nvPr/>
        </p:nvSpPr>
        <p:spPr>
          <a:xfrm>
            <a:off x="5452491" y="2670048"/>
            <a:ext cx="1225296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40" b="0">
                <a:solidFill>
                  <a:srgbClr val="172451"/>
                </a:solidFill>
                <a:latin typeface="Arial"/>
              </a:rPr>
              <a:t>news feed bridge</a:t>
            </a:r>
          </a:p>
        </p:txBody>
      </p:sp>
      <p:sp>
        <p:nvSpPr>
          <p:cNvPr id="124" name="Rounded Rectangle 30">
            <a:extLst>
              <a:ext uri="{FF2B5EF4-FFF2-40B4-BE49-F238E27FC236}">
                <a16:creationId xmlns:a16="http://schemas.microsoft.com/office/drawing/2014/main" id="{A8C56DF0-FAD8-4036-A1A6-EB5EBD41CB52}"/>
              </a:ext>
            </a:extLst>
          </p:cNvPr>
          <p:cNvSpPr/>
          <p:nvPr/>
        </p:nvSpPr>
        <p:spPr>
          <a:xfrm>
            <a:off x="4428363" y="3200400"/>
            <a:ext cx="932688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592BECC-6071-2394-55D4-0E3D45B512D1}"/>
              </a:ext>
            </a:extLst>
          </p:cNvPr>
          <p:cNvSpPr txBox="1"/>
          <p:nvPr/>
        </p:nvSpPr>
        <p:spPr>
          <a:xfrm>
            <a:off x="4455795" y="3218688"/>
            <a:ext cx="877824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60" b="1">
                <a:solidFill>
                  <a:srgbClr val="172451"/>
                </a:solidFill>
                <a:latin typeface="Arial"/>
              </a:rPr>
              <a:t>REST / JSON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A65FC91F-0A0B-9EF0-0B69-505B08E9DC0E}"/>
              </a:ext>
            </a:extLst>
          </p:cNvPr>
          <p:cNvSpPr txBox="1"/>
          <p:nvPr/>
        </p:nvSpPr>
        <p:spPr>
          <a:xfrm>
            <a:off x="5452491" y="3191256"/>
            <a:ext cx="1225296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40" b="0">
                <a:solidFill>
                  <a:srgbClr val="172451"/>
                </a:solidFill>
                <a:latin typeface="Arial"/>
              </a:rPr>
              <a:t>market-data fetch</a:t>
            </a:r>
          </a:p>
        </p:txBody>
      </p:sp>
      <p:sp>
        <p:nvSpPr>
          <p:cNvPr id="127" name="Rounded Rectangle 33">
            <a:extLst>
              <a:ext uri="{FF2B5EF4-FFF2-40B4-BE49-F238E27FC236}">
                <a16:creationId xmlns:a16="http://schemas.microsoft.com/office/drawing/2014/main" id="{ADA5D8C1-659A-2C97-07F0-7AB22D62514B}"/>
              </a:ext>
            </a:extLst>
          </p:cNvPr>
          <p:cNvSpPr/>
          <p:nvPr/>
        </p:nvSpPr>
        <p:spPr>
          <a:xfrm>
            <a:off x="4428363" y="3721608"/>
            <a:ext cx="932688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3AF2331E-DA8A-75B0-2038-CB8F52409FBC}"/>
              </a:ext>
            </a:extLst>
          </p:cNvPr>
          <p:cNvSpPr txBox="1"/>
          <p:nvPr/>
        </p:nvSpPr>
        <p:spPr>
          <a:xfrm>
            <a:off x="4455795" y="3739896"/>
            <a:ext cx="877824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60" b="1">
                <a:solidFill>
                  <a:srgbClr val="172451"/>
                </a:solidFill>
                <a:latin typeface="Arial"/>
              </a:rPr>
              <a:t>5 MIN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22E37925-C11A-E462-13EE-DC61E52DBA40}"/>
              </a:ext>
            </a:extLst>
          </p:cNvPr>
          <p:cNvSpPr txBox="1"/>
          <p:nvPr/>
        </p:nvSpPr>
        <p:spPr>
          <a:xfrm>
            <a:off x="5452491" y="3712464"/>
            <a:ext cx="1225296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40" b="0">
                <a:solidFill>
                  <a:srgbClr val="172451"/>
                </a:solidFill>
                <a:latin typeface="Arial"/>
              </a:rPr>
              <a:t>pool scan / refresh</a:t>
            </a: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AC1FF6DA-52B7-3FD3-014A-1E503FD4B30D}"/>
              </a:ext>
            </a:extLst>
          </p:cNvPr>
          <p:cNvSpPr txBox="1"/>
          <p:nvPr/>
        </p:nvSpPr>
        <p:spPr>
          <a:xfrm>
            <a:off x="4428363" y="4334256"/>
            <a:ext cx="2167128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50" b="1">
                <a:solidFill>
                  <a:srgbClr val="34456F"/>
                </a:solidFill>
                <a:latin typeface="Arial"/>
              </a:rPr>
              <a:t>APP LOGIC</a:t>
            </a: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C6DA8638-C9F7-D2C7-D869-2B56BDBB221A}"/>
              </a:ext>
            </a:extLst>
          </p:cNvPr>
          <p:cNvSpPr txBox="1"/>
          <p:nvPr/>
        </p:nvSpPr>
        <p:spPr>
          <a:xfrm>
            <a:off x="4428363" y="4590288"/>
            <a:ext cx="210312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69" b="0">
                <a:solidFill>
                  <a:srgbClr val="172451"/>
                </a:solidFill>
                <a:latin typeface="Arial"/>
              </a:rPr>
              <a:t>• Headline clustering</a:t>
            </a:r>
          </a:p>
        </p:txBody>
      </p:sp>
      <p:sp>
        <p:nvSpPr>
          <p:cNvPr id="1028" name="TextBox 1027">
            <a:extLst>
              <a:ext uri="{FF2B5EF4-FFF2-40B4-BE49-F238E27FC236}">
                <a16:creationId xmlns:a16="http://schemas.microsoft.com/office/drawing/2014/main" id="{A03F8A83-67B6-D0AE-E6A8-22F950976D10}"/>
              </a:ext>
            </a:extLst>
          </p:cNvPr>
          <p:cNvSpPr txBox="1"/>
          <p:nvPr/>
        </p:nvSpPr>
        <p:spPr>
          <a:xfrm>
            <a:off x="4428363" y="4800600"/>
            <a:ext cx="210312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69" b="0">
                <a:solidFill>
                  <a:srgbClr val="172451"/>
                </a:solidFill>
                <a:latin typeface="Arial"/>
              </a:rPr>
              <a:t>• Exact CA matching</a:t>
            </a: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A0EA2154-E27F-84FE-95BC-95517BC9CA35}"/>
              </a:ext>
            </a:extLst>
          </p:cNvPr>
          <p:cNvSpPr txBox="1"/>
          <p:nvPr/>
        </p:nvSpPr>
        <p:spPr>
          <a:xfrm>
            <a:off x="4428363" y="5010912"/>
            <a:ext cx="210312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69" b="0">
                <a:solidFill>
                  <a:srgbClr val="172451"/>
                </a:solidFill>
                <a:latin typeface="Arial"/>
              </a:rPr>
              <a:t>• Pool filtering + ranking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E11E8735-C644-C669-81D8-E6D10539096E}"/>
              </a:ext>
            </a:extLst>
          </p:cNvPr>
          <p:cNvSpPr txBox="1"/>
          <p:nvPr/>
        </p:nvSpPr>
        <p:spPr>
          <a:xfrm>
            <a:off x="4428363" y="5221224"/>
            <a:ext cx="210312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69" b="0">
                <a:solidFill>
                  <a:srgbClr val="172451"/>
                </a:solidFill>
                <a:latin typeface="Arial"/>
              </a:rPr>
              <a:t>• Swap aggregation + cache</a:t>
            </a:r>
          </a:p>
        </p:txBody>
      </p:sp>
      <p:sp>
        <p:nvSpPr>
          <p:cNvPr id="1031" name="Rounded Rectangle 41">
            <a:extLst>
              <a:ext uri="{FF2B5EF4-FFF2-40B4-BE49-F238E27FC236}">
                <a16:creationId xmlns:a16="http://schemas.microsoft.com/office/drawing/2014/main" id="{D78EB6FA-5926-F223-A23F-E539777B31FC}"/>
              </a:ext>
            </a:extLst>
          </p:cNvPr>
          <p:cNvSpPr/>
          <p:nvPr/>
        </p:nvSpPr>
        <p:spPr>
          <a:xfrm>
            <a:off x="8239887" y="2688336"/>
            <a:ext cx="841248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481C9BB0-5249-7DA8-0F59-EB0E81790394}"/>
              </a:ext>
            </a:extLst>
          </p:cNvPr>
          <p:cNvSpPr txBox="1"/>
          <p:nvPr/>
        </p:nvSpPr>
        <p:spPr>
          <a:xfrm>
            <a:off x="8267319" y="2706624"/>
            <a:ext cx="786384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172451"/>
                </a:solidFill>
                <a:latin typeface="Arial"/>
              </a:rPr>
              <a:t>HTML5</a:t>
            </a:r>
          </a:p>
        </p:txBody>
      </p:sp>
      <p:sp>
        <p:nvSpPr>
          <p:cNvPr id="1033" name="Rounded Rectangle 43">
            <a:extLst>
              <a:ext uri="{FF2B5EF4-FFF2-40B4-BE49-F238E27FC236}">
                <a16:creationId xmlns:a16="http://schemas.microsoft.com/office/drawing/2014/main" id="{CC8D726C-BCE6-48BA-8938-A2E6137B939A}"/>
              </a:ext>
            </a:extLst>
          </p:cNvPr>
          <p:cNvSpPr/>
          <p:nvPr/>
        </p:nvSpPr>
        <p:spPr>
          <a:xfrm>
            <a:off x="9154287" y="2688336"/>
            <a:ext cx="713232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0179159C-A99F-CA26-69CD-078C9C4FD8E3}"/>
              </a:ext>
            </a:extLst>
          </p:cNvPr>
          <p:cNvSpPr txBox="1"/>
          <p:nvPr/>
        </p:nvSpPr>
        <p:spPr>
          <a:xfrm>
            <a:off x="9181719" y="2706624"/>
            <a:ext cx="658368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172451"/>
                </a:solidFill>
                <a:latin typeface="Arial"/>
              </a:rPr>
              <a:t>CSS</a:t>
            </a:r>
          </a:p>
        </p:txBody>
      </p:sp>
      <p:sp>
        <p:nvSpPr>
          <p:cNvPr id="1035" name="Rounded Rectangle 45">
            <a:extLst>
              <a:ext uri="{FF2B5EF4-FFF2-40B4-BE49-F238E27FC236}">
                <a16:creationId xmlns:a16="http://schemas.microsoft.com/office/drawing/2014/main" id="{45FC0F5D-C08A-E636-F284-C6368FFE29CA}"/>
              </a:ext>
            </a:extLst>
          </p:cNvPr>
          <p:cNvSpPr/>
          <p:nvPr/>
        </p:nvSpPr>
        <p:spPr>
          <a:xfrm>
            <a:off x="9940671" y="2688336"/>
            <a:ext cx="576072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72C167D1-E929-6D26-EED3-6A31E819EB96}"/>
              </a:ext>
            </a:extLst>
          </p:cNvPr>
          <p:cNvSpPr txBox="1"/>
          <p:nvPr/>
        </p:nvSpPr>
        <p:spPr>
          <a:xfrm>
            <a:off x="9968102" y="2706624"/>
            <a:ext cx="521208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172451"/>
                </a:solidFill>
                <a:latin typeface="Arial"/>
              </a:rPr>
              <a:t>JS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FF778941-6DEF-2FF1-EE24-B2C65152D5CA}"/>
              </a:ext>
            </a:extLst>
          </p:cNvPr>
          <p:cNvSpPr txBox="1"/>
          <p:nvPr/>
        </p:nvSpPr>
        <p:spPr>
          <a:xfrm>
            <a:off x="8239887" y="3136392"/>
            <a:ext cx="2176272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00" b="1">
                <a:solidFill>
                  <a:srgbClr val="172451"/>
                </a:solidFill>
                <a:latin typeface="Arial"/>
              </a:rPr>
              <a:t>JavaScript ES modules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4D946865-AFD2-082D-525E-F26199FEB183}"/>
              </a:ext>
            </a:extLst>
          </p:cNvPr>
          <p:cNvSpPr txBox="1"/>
          <p:nvPr/>
        </p:nvSpPr>
        <p:spPr>
          <a:xfrm>
            <a:off x="8239887" y="3419856"/>
            <a:ext cx="2176272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30" b="0">
                <a:solidFill>
                  <a:srgbClr val="34456F"/>
                </a:solidFill>
                <a:latin typeface="Arial"/>
              </a:rPr>
              <a:t>Browser-local state / history</a:t>
            </a: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3BD0D2EA-5227-EE66-AC7E-44C34B1D8473}"/>
              </a:ext>
            </a:extLst>
          </p:cNvPr>
          <p:cNvSpPr txBox="1"/>
          <p:nvPr/>
        </p:nvSpPr>
        <p:spPr>
          <a:xfrm>
            <a:off x="8239887" y="3822191"/>
            <a:ext cx="21762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50" b="1">
                <a:solidFill>
                  <a:srgbClr val="34456F"/>
                </a:solidFill>
                <a:latin typeface="Arial"/>
              </a:rPr>
              <a:t>TRADER VIEWS</a:t>
            </a:r>
          </a:p>
        </p:txBody>
      </p:sp>
      <p:sp>
        <p:nvSpPr>
          <p:cNvPr id="1041" name="Rounded Rectangle 50">
            <a:extLst>
              <a:ext uri="{FF2B5EF4-FFF2-40B4-BE49-F238E27FC236}">
                <a16:creationId xmlns:a16="http://schemas.microsoft.com/office/drawing/2014/main" id="{E22F221D-E2F0-AEAC-4C63-3C42CC99ED80}"/>
              </a:ext>
            </a:extLst>
          </p:cNvPr>
          <p:cNvSpPr/>
          <p:nvPr/>
        </p:nvSpPr>
        <p:spPr>
          <a:xfrm>
            <a:off x="8239887" y="4123944"/>
            <a:ext cx="1051560" cy="310896"/>
          </a:xfrm>
          <a:prstGeom prst="roundRect">
            <a:avLst/>
          </a:prstGeom>
          <a:solidFill>
            <a:srgbClr val="D9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DC0D7DCD-BCC7-46CF-C3D5-58818B85BD36}"/>
              </a:ext>
            </a:extLst>
          </p:cNvPr>
          <p:cNvSpPr txBox="1"/>
          <p:nvPr/>
        </p:nvSpPr>
        <p:spPr>
          <a:xfrm>
            <a:off x="8267319" y="4142231"/>
            <a:ext cx="996695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172451"/>
                </a:solidFill>
                <a:latin typeface="Arial"/>
              </a:rPr>
              <a:t>COIN</a:t>
            </a:r>
          </a:p>
        </p:txBody>
      </p:sp>
      <p:sp>
        <p:nvSpPr>
          <p:cNvPr id="1043" name="Rounded Rectangle 52">
            <a:extLst>
              <a:ext uri="{FF2B5EF4-FFF2-40B4-BE49-F238E27FC236}">
                <a16:creationId xmlns:a16="http://schemas.microsoft.com/office/drawing/2014/main" id="{BA8E2097-8025-506D-FE19-67DD5F1A0DA7}"/>
              </a:ext>
            </a:extLst>
          </p:cNvPr>
          <p:cNvSpPr/>
          <p:nvPr/>
        </p:nvSpPr>
        <p:spPr>
          <a:xfrm>
            <a:off x="9364599" y="4123944"/>
            <a:ext cx="1051560" cy="310896"/>
          </a:xfrm>
          <a:prstGeom prst="roundRect">
            <a:avLst/>
          </a:prstGeom>
          <a:solidFill>
            <a:srgbClr val="D9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D4F772D1-BDAC-D649-BB77-3C1AD4B2A57C}"/>
              </a:ext>
            </a:extLst>
          </p:cNvPr>
          <p:cNvSpPr txBox="1"/>
          <p:nvPr/>
        </p:nvSpPr>
        <p:spPr>
          <a:xfrm>
            <a:off x="9392031" y="4142231"/>
            <a:ext cx="996695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19" b="1">
                <a:solidFill>
                  <a:srgbClr val="172451"/>
                </a:solidFill>
                <a:latin typeface="Arial"/>
              </a:rPr>
              <a:t>NARRATIVE</a:t>
            </a:r>
          </a:p>
        </p:txBody>
      </p:sp>
      <p:sp>
        <p:nvSpPr>
          <p:cNvPr id="1045" name="Rounded Rectangle 54">
            <a:extLst>
              <a:ext uri="{FF2B5EF4-FFF2-40B4-BE49-F238E27FC236}">
                <a16:creationId xmlns:a16="http://schemas.microsoft.com/office/drawing/2014/main" id="{33B3B62B-DE0A-02A0-1A4E-4A27B267396A}"/>
              </a:ext>
            </a:extLst>
          </p:cNvPr>
          <p:cNvSpPr/>
          <p:nvPr/>
        </p:nvSpPr>
        <p:spPr>
          <a:xfrm>
            <a:off x="8239887" y="4517136"/>
            <a:ext cx="1051560" cy="310896"/>
          </a:xfrm>
          <a:prstGeom prst="roundRect">
            <a:avLst/>
          </a:prstGeom>
          <a:solidFill>
            <a:srgbClr val="D9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F69D568C-CC90-73E1-E468-CCED302595E2}"/>
              </a:ext>
            </a:extLst>
          </p:cNvPr>
          <p:cNvSpPr txBox="1"/>
          <p:nvPr/>
        </p:nvSpPr>
        <p:spPr>
          <a:xfrm>
            <a:off x="8267319" y="4535424"/>
            <a:ext cx="996695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80" b="1">
                <a:solidFill>
                  <a:srgbClr val="172451"/>
                </a:solidFill>
                <a:latin typeface="Arial"/>
              </a:rPr>
              <a:t>ORDER FLOW</a:t>
            </a:r>
          </a:p>
        </p:txBody>
      </p:sp>
      <p:sp>
        <p:nvSpPr>
          <p:cNvPr id="1047" name="Rounded Rectangle 56">
            <a:extLst>
              <a:ext uri="{FF2B5EF4-FFF2-40B4-BE49-F238E27FC236}">
                <a16:creationId xmlns:a16="http://schemas.microsoft.com/office/drawing/2014/main" id="{914A1EA4-866D-5DEE-7833-76646595F710}"/>
              </a:ext>
            </a:extLst>
          </p:cNvPr>
          <p:cNvSpPr/>
          <p:nvPr/>
        </p:nvSpPr>
        <p:spPr>
          <a:xfrm>
            <a:off x="9364599" y="4517136"/>
            <a:ext cx="1051560" cy="310896"/>
          </a:xfrm>
          <a:prstGeom prst="roundRect">
            <a:avLst/>
          </a:prstGeom>
          <a:solidFill>
            <a:srgbClr val="D9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C7CF19B7-175E-7F20-10AF-4038875E18CC}"/>
              </a:ext>
            </a:extLst>
          </p:cNvPr>
          <p:cNvSpPr txBox="1"/>
          <p:nvPr/>
        </p:nvSpPr>
        <p:spPr>
          <a:xfrm>
            <a:off x="9392031" y="4535424"/>
            <a:ext cx="996695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>
                <a:solidFill>
                  <a:srgbClr val="172451"/>
                </a:solidFill>
                <a:latin typeface="Arial"/>
              </a:rPr>
              <a:t>WATCHLIST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922E1095-B318-B366-9F38-B293E75BCE44}"/>
              </a:ext>
            </a:extLst>
          </p:cNvPr>
          <p:cNvSpPr txBox="1"/>
          <p:nvPr/>
        </p:nvSpPr>
        <p:spPr>
          <a:xfrm>
            <a:off x="8239887" y="4928616"/>
            <a:ext cx="2176272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19" b="0">
                <a:solidFill>
                  <a:srgbClr val="34456F"/>
                </a:solidFill>
                <a:latin typeface="Arial"/>
              </a:rPr>
              <a:t>60s visible-page order-flow refresh</a:t>
            </a:r>
          </a:p>
        </p:txBody>
      </p:sp>
      <p:sp>
        <p:nvSpPr>
          <p:cNvPr id="1050" name="Right Arrow 71">
            <a:extLst>
              <a:ext uri="{FF2B5EF4-FFF2-40B4-BE49-F238E27FC236}">
                <a16:creationId xmlns:a16="http://schemas.microsoft.com/office/drawing/2014/main" id="{F4DF6E91-B248-1953-F92B-03EC2CA75EC1}"/>
              </a:ext>
            </a:extLst>
          </p:cNvPr>
          <p:cNvSpPr/>
          <p:nvPr/>
        </p:nvSpPr>
        <p:spPr>
          <a:xfrm>
            <a:off x="3122294" y="3584448"/>
            <a:ext cx="809929" cy="292608"/>
          </a:xfrm>
          <a:prstGeom prst="rightArrow">
            <a:avLst/>
          </a:prstGeom>
          <a:solidFill>
            <a:srgbClr val="22B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1" name="Right Arrow 72">
            <a:extLst>
              <a:ext uri="{FF2B5EF4-FFF2-40B4-BE49-F238E27FC236}">
                <a16:creationId xmlns:a16="http://schemas.microsoft.com/office/drawing/2014/main" id="{58765DB0-A642-EC58-CAC0-26D0B0B0F7AA}"/>
              </a:ext>
            </a:extLst>
          </p:cNvPr>
          <p:cNvSpPr/>
          <p:nvPr/>
        </p:nvSpPr>
        <p:spPr>
          <a:xfrm>
            <a:off x="6724268" y="3584448"/>
            <a:ext cx="809929" cy="292608"/>
          </a:xfrm>
          <a:prstGeom prst="rightArrow">
            <a:avLst/>
          </a:prstGeom>
          <a:solidFill>
            <a:srgbClr val="22B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C28619D2-376A-1695-4A4C-9427EAEB46A6}"/>
              </a:ext>
            </a:extLst>
          </p:cNvPr>
          <p:cNvSpPr/>
          <p:nvPr/>
        </p:nvSpPr>
        <p:spPr>
          <a:xfrm>
            <a:off x="219456" y="1237107"/>
            <a:ext cx="6446520" cy="5074920"/>
          </a:xfrm>
          <a:prstGeom prst="roundRect">
            <a:avLst/>
          </a:prstGeom>
          <a:solidFill>
            <a:srgbClr val="162347"/>
          </a:solidFill>
          <a:ln w="12700">
            <a:solidFill>
              <a:srgbClr val="344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F972E1A3-89D7-92E4-B39E-C97369CE9181}"/>
              </a:ext>
            </a:extLst>
          </p:cNvPr>
          <p:cNvSpPr/>
          <p:nvPr/>
        </p:nvSpPr>
        <p:spPr>
          <a:xfrm>
            <a:off x="6894576" y="1237107"/>
            <a:ext cx="5074920" cy="5074920"/>
          </a:xfrm>
          <a:prstGeom prst="roundRect">
            <a:avLst/>
          </a:prstGeom>
          <a:solidFill>
            <a:srgbClr val="162347"/>
          </a:solidFill>
          <a:ln w="12700">
            <a:solidFill>
              <a:srgbClr val="344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304D1A-55D3-CA3E-F205-1AF282151AC0}"/>
              </a:ext>
            </a:extLst>
          </p:cNvPr>
          <p:cNvSpPr txBox="1"/>
          <p:nvPr/>
        </p:nvSpPr>
        <p:spPr>
          <a:xfrm>
            <a:off x="645795" y="1458468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22B7C7"/>
                </a:solidFill>
                <a:latin typeface="Arial"/>
              </a:rPr>
              <a:t>COIN SCANNER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A3AEF8-3B94-6EA0-6303-7A9C4C1C6438}"/>
              </a:ext>
            </a:extLst>
          </p:cNvPr>
          <p:cNvSpPr txBox="1"/>
          <p:nvPr/>
        </p:nvSpPr>
        <p:spPr>
          <a:xfrm>
            <a:off x="7311771" y="1458468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2B7C7"/>
                </a:solidFill>
                <a:latin typeface="Arial"/>
              </a:rPr>
              <a:t>ORDER FLOW</a:t>
            </a:r>
          </a:p>
        </p:txBody>
      </p:sp>
      <p:pic>
        <p:nvPicPr>
          <p:cNvPr id="11" name="Picture 10" descr="image4.png">
            <a:extLst>
              <a:ext uri="{FF2B5EF4-FFF2-40B4-BE49-F238E27FC236}">
                <a16:creationId xmlns:a16="http://schemas.microsoft.com/office/drawing/2014/main" id="{2927A6FC-EC14-1ACE-2A7E-947FE0F216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27" b="5027"/>
          <a:stretch>
            <a:fillRect/>
          </a:stretch>
        </p:blipFill>
        <p:spPr>
          <a:xfrm>
            <a:off x="7436082" y="1947611"/>
            <a:ext cx="4118124" cy="38808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E6EDBDE-6DD3-A35B-D771-A9FE7ACC62DD}"/>
              </a:ext>
            </a:extLst>
          </p:cNvPr>
          <p:cNvSpPr txBox="1"/>
          <p:nvPr/>
        </p:nvSpPr>
        <p:spPr>
          <a:xfrm>
            <a:off x="8549640" y="6394323"/>
            <a:ext cx="31089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dirty="0">
                <a:solidFill>
                  <a:srgbClr val="22B7C7"/>
                </a:solidFill>
                <a:latin typeface="Arial"/>
              </a:rPr>
              <a:t>bytx24--meme-fast-web.modal.run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A16462-78DE-BD36-6A27-1B9AEC6AD311}"/>
              </a:ext>
            </a:extLst>
          </p:cNvPr>
          <p:cNvSpPr txBox="1"/>
          <p:nvPr/>
        </p:nvSpPr>
        <p:spPr>
          <a:xfrm>
            <a:off x="658368" y="475488"/>
            <a:ext cx="4114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D6A82E"/>
                </a:solidFill>
                <a:latin typeface="Arial"/>
              </a:rPr>
              <a:t>WORKING PRODUCT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783AE0-0DCC-ADEA-4512-A7C894AFF459}"/>
              </a:ext>
            </a:extLst>
          </p:cNvPr>
          <p:cNvSpPr txBox="1"/>
          <p:nvPr/>
        </p:nvSpPr>
        <p:spPr>
          <a:xfrm>
            <a:off x="658368" y="713232"/>
            <a:ext cx="10698480" cy="453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50" b="1" i="0" dirty="0">
                <a:solidFill>
                  <a:srgbClr val="5B9AE6"/>
                </a:solidFill>
                <a:latin typeface="Arial"/>
              </a:rPr>
              <a:t>MEME-FAST: from attention to market context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95610F-0B91-5BC2-F34E-200B19BFA689}"/>
              </a:ext>
            </a:extLst>
          </p:cNvPr>
          <p:cNvSpPr/>
          <p:nvPr/>
        </p:nvSpPr>
        <p:spPr>
          <a:xfrm>
            <a:off x="402336" y="438912"/>
            <a:ext cx="64008" cy="484632"/>
          </a:xfrm>
          <a:prstGeom prst="rect">
            <a:avLst/>
          </a:prstGeom>
          <a:solidFill>
            <a:srgbClr val="D6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88B4F83-0E41-89E8-2D1D-8B9D7218F6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" y="1947611"/>
            <a:ext cx="6077322" cy="319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61099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420</Words>
  <Application>Microsoft Office PowerPoint</Application>
  <DocSecurity>0</DocSecurity>
  <PresentationFormat>Widescreen</PresentationFormat>
  <Paragraphs>95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Ben Yong</cp:lastModifiedBy>
  <cp:revision>8</cp:revision>
  <dcterms:created xsi:type="dcterms:W3CDTF">2026-08-08T11:53:33Z</dcterms:created>
  <dcterms:modified xsi:type="dcterms:W3CDTF">2026-09-23T13:03:48Z</dcterms:modified>
</cp:coreProperties>
</file>