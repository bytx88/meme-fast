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2" r:id="rId5"/>
    <p:sldId id="258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8A23"/>
    <a:srgbClr val="D6A82E"/>
    <a:srgbClr val="202D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the pitch.txt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 clarification: Trade-Lite is a lightweight, customizable personal app beyond trading-script customization.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the pitch.txt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User-provided Trade-Lite.pptx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User clarification: popular Bitunix USDT tickers provide real-time M1 data; Telegram notification is available but inactive.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>
            <a:extLst>
              <a:ext uri="{FF2B5EF4-FFF2-40B4-BE49-F238E27FC236}">
                <a16:creationId xmlns:a16="http://schemas.microsoft.com/office/drawing/2014/main" id="{883DB54C-CE9F-4985-BCAA-881E2414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>
            <a:extLst>
              <a:ext uri="{FF2B5EF4-FFF2-40B4-BE49-F238E27FC236}">
                <a16:creationId xmlns:a16="http://schemas.microsoft.com/office/drawing/2014/main" id="{D47262B8-13E8-4A29-836C-300AFC765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>
            <a:extLst>
              <a:ext uri="{FF2B5EF4-FFF2-40B4-BE49-F238E27FC236}">
                <a16:creationId xmlns:a16="http://schemas.microsoft.com/office/drawing/2014/main" id="{2C41FCF8-021F-48CA-AB35-9EFA7E3FB58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>
            <a:extLst>
              <a:ext uri="{FF2B5EF4-FFF2-40B4-BE49-F238E27FC236}">
                <a16:creationId xmlns:a16="http://schemas.microsoft.com/office/drawing/2014/main" id="{4ECA8FE8-08C3-4996-AB13-2F67A8F78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813F91B4-A488-4D3E-A735-455CC1A64E8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29C92A8C-A95C-4B69-A1B6-409A58F8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7A038857-0ED9-4133-8FFF-EC33F70E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CACF2563-BFB9-4231-8C5E-AD32E966629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A6C72083-42A3-4306-BFFF-8F4A293C303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3FA420CB-E423-4971-AB78-8D498DA44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>
            <a:extLst>
              <a:ext uri="{FF2B5EF4-FFF2-40B4-BE49-F238E27FC236}">
                <a16:creationId xmlns:a16="http://schemas.microsoft.com/office/drawing/2014/main" id="{DA25C1F3-9A75-421C-BF08-3E0AE693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FA610D9C-DA2F-467C-9628-C5D145EC1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8072BD1E-60A0-40F0-BD69-E270150226D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3DB501F9-1323-4AD8-8BD1-E82B3AA6406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>
            <a:extLst>
              <a:ext uri="{FF2B5EF4-FFF2-40B4-BE49-F238E27FC236}">
                <a16:creationId xmlns:a16="http://schemas.microsoft.com/office/drawing/2014/main" id="{0D8877E4-6D69-4C37-8AA0-E8A6502B3CE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>
            <a:extLst>
              <a:ext uri="{FF2B5EF4-FFF2-40B4-BE49-F238E27FC236}">
                <a16:creationId xmlns:a16="http://schemas.microsoft.com/office/drawing/2014/main" id="{843EDDA9-90F8-49AF-ACEE-B683167F856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>
            <a:extLst>
              <a:ext uri="{FF2B5EF4-FFF2-40B4-BE49-F238E27FC236}">
                <a16:creationId xmlns:a16="http://schemas.microsoft.com/office/drawing/2014/main" id="{AFB56242-65EE-43FD-A997-19C90900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>
            <a:extLst>
              <a:ext uri="{FF2B5EF4-FFF2-40B4-BE49-F238E27FC236}">
                <a16:creationId xmlns:a16="http://schemas.microsoft.com/office/drawing/2014/main" id="{9F89AD63-3A2F-448C-BF77-AB6ED62E4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>
            <a:extLst>
              <a:ext uri="{FF2B5EF4-FFF2-40B4-BE49-F238E27FC236}">
                <a16:creationId xmlns:a16="http://schemas.microsoft.com/office/drawing/2014/main" id="{E2257D1C-F596-4F45-8A37-45E208DB560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>
            <a:extLst>
              <a:ext uri="{FF2B5EF4-FFF2-40B4-BE49-F238E27FC236}">
                <a16:creationId xmlns:a16="http://schemas.microsoft.com/office/drawing/2014/main" id="{124A9F91-B0D1-4E96-B3A2-29B1D369496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>
            <a:extLst>
              <a:ext uri="{FF2B5EF4-FFF2-40B4-BE49-F238E27FC236}">
                <a16:creationId xmlns:a16="http://schemas.microsoft.com/office/drawing/2014/main" id="{6CF1D46B-0910-4D73-A3E7-809F3AB7618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>
            <a:extLst>
              <a:ext uri="{FF2B5EF4-FFF2-40B4-BE49-F238E27FC236}">
                <a16:creationId xmlns:a16="http://schemas.microsoft.com/office/drawing/2014/main" id="{8279AD1E-62B6-4721-927E-937FB5CA525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>
            <a:extLst>
              <a:ext uri="{FF2B5EF4-FFF2-40B4-BE49-F238E27FC236}">
                <a16:creationId xmlns:a16="http://schemas.microsoft.com/office/drawing/2014/main" id="{A1CB4EF3-A1AE-45F1-88A3-440108F5D50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>
            <a:extLst>
              <a:ext uri="{FF2B5EF4-FFF2-40B4-BE49-F238E27FC236}">
                <a16:creationId xmlns:a16="http://schemas.microsoft.com/office/drawing/2014/main" id="{18DDA697-0808-4209-9B45-C9DF4DF765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>
            <a:extLst>
              <a:ext uri="{FF2B5EF4-FFF2-40B4-BE49-F238E27FC236}">
                <a16:creationId xmlns:a16="http://schemas.microsoft.com/office/drawing/2014/main" id="{4E76C941-601E-4EC2-BDF5-EF42E20C7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>
            <a:extLst>
              <a:ext uri="{FF2B5EF4-FFF2-40B4-BE49-F238E27FC236}">
                <a16:creationId xmlns:a16="http://schemas.microsoft.com/office/drawing/2014/main" id="{2D1DD1BC-F8E1-4934-9B7E-825EE463354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>
            <a:extLst>
              <a:ext uri="{FF2B5EF4-FFF2-40B4-BE49-F238E27FC236}">
                <a16:creationId xmlns:a16="http://schemas.microsoft.com/office/drawing/2014/main" id="{8CD16A5F-22EF-41A0-B8A3-FC05E927376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>
            <a:extLst>
              <a:ext uri="{FF2B5EF4-FFF2-40B4-BE49-F238E27FC236}">
                <a16:creationId xmlns:a16="http://schemas.microsoft.com/office/drawing/2014/main" id="{E1F2AEA3-5331-4110-97BC-A6CC04507C1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B3C0035D-7971-49AA-91D6-A1EC52C39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>
            <a:extLst>
              <a:ext uri="{FF2B5EF4-FFF2-40B4-BE49-F238E27FC236}">
                <a16:creationId xmlns:a16="http://schemas.microsoft.com/office/drawing/2014/main" id="{045599BC-956E-41CC-8AA9-038B32674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>
            <a:extLst>
              <a:ext uri="{FF2B5EF4-FFF2-40B4-BE49-F238E27FC236}">
                <a16:creationId xmlns:a16="http://schemas.microsoft.com/office/drawing/2014/main" id="{F513A140-A10B-42ED-B0D7-A853BD1EDB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>
            <a:extLst>
              <a:ext uri="{FF2B5EF4-FFF2-40B4-BE49-F238E27FC236}">
                <a16:creationId xmlns:a16="http://schemas.microsoft.com/office/drawing/2014/main" id="{F924F56A-1097-499C-AE7D-029EFFCE3CB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>
            <a:extLst>
              <a:ext uri="{FF2B5EF4-FFF2-40B4-BE49-F238E27FC236}">
                <a16:creationId xmlns:a16="http://schemas.microsoft.com/office/drawing/2014/main" id="{4A78B46F-B231-474E-A653-44653A3CBC7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>
            <a:extLst>
              <a:ext uri="{FF2B5EF4-FFF2-40B4-BE49-F238E27FC236}">
                <a16:creationId xmlns:a16="http://schemas.microsoft.com/office/drawing/2014/main" id="{1C2DB85B-3C86-4A8B-BCDF-5F886F0C0C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>
            <a:extLst>
              <a:ext uri="{FF2B5EF4-FFF2-40B4-BE49-F238E27FC236}">
                <a16:creationId xmlns:a16="http://schemas.microsoft.com/office/drawing/2014/main" id="{B2899280-34D7-4DA3-821C-A1180DE4B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>
            <a:extLst>
              <a:ext uri="{FF2B5EF4-FFF2-40B4-BE49-F238E27FC236}">
                <a16:creationId xmlns:a16="http://schemas.microsoft.com/office/drawing/2014/main" id="{4B611941-DDE4-4770-8B95-6E24512C194F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>
            <a:extLst>
              <a:ext uri="{FF2B5EF4-FFF2-40B4-BE49-F238E27FC236}">
                <a16:creationId xmlns:a16="http://schemas.microsoft.com/office/drawing/2014/main" id="{B1752979-B7D6-4206-9F15-78CAB1692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>
            <a:extLst>
              <a:ext uri="{FF2B5EF4-FFF2-40B4-BE49-F238E27FC236}">
                <a16:creationId xmlns:a16="http://schemas.microsoft.com/office/drawing/2014/main" id="{7C236CDE-4690-4C46-9206-A356E799F7C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>
            <a:extLst>
              <a:ext uri="{FF2B5EF4-FFF2-40B4-BE49-F238E27FC236}">
                <a16:creationId xmlns:a16="http://schemas.microsoft.com/office/drawing/2014/main" id="{33E65B4D-7A59-46BB-8A96-32876A73D66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>
            <a:extLst>
              <a:ext uri="{FF2B5EF4-FFF2-40B4-BE49-F238E27FC236}">
                <a16:creationId xmlns:a16="http://schemas.microsoft.com/office/drawing/2014/main" id="{9084E715-0413-4AB8-9496-300EAFB1AA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>
            <a:extLst>
              <a:ext uri="{FF2B5EF4-FFF2-40B4-BE49-F238E27FC236}">
                <a16:creationId xmlns:a16="http://schemas.microsoft.com/office/drawing/2014/main" id="{4B2A097D-DEA2-42C5-8D7B-926164A6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>
            <a:extLst>
              <a:ext uri="{FF2B5EF4-FFF2-40B4-BE49-F238E27FC236}">
                <a16:creationId xmlns:a16="http://schemas.microsoft.com/office/drawing/2014/main" id="{4A68817D-8965-4A53-AEB8-2129116D9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>
            <a:extLst>
              <a:ext uri="{FF2B5EF4-FFF2-40B4-BE49-F238E27FC236}">
                <a16:creationId xmlns:a16="http://schemas.microsoft.com/office/drawing/2014/main" id="{8068A41F-BA6B-4D17-BFBA-48A67B0A4ED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>
            <a:extLst>
              <a:ext uri="{FF2B5EF4-FFF2-40B4-BE49-F238E27FC236}">
                <a16:creationId xmlns:a16="http://schemas.microsoft.com/office/drawing/2014/main" id="{30D2ADD2-0CB3-4011-956C-99DC7AB3CDC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>
            <a:extLst>
              <a:ext uri="{FF2B5EF4-FFF2-40B4-BE49-F238E27FC236}">
                <a16:creationId xmlns:a16="http://schemas.microsoft.com/office/drawing/2014/main" id="{E7560574-09DC-41CD-9E7D-4C9C863F2F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>
            <a:extLst>
              <a:ext uri="{FF2B5EF4-FFF2-40B4-BE49-F238E27FC236}">
                <a16:creationId xmlns:a16="http://schemas.microsoft.com/office/drawing/2014/main" id="{BA518A24-3BE4-45F3-80E7-A4D17F987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>
            <a:extLst>
              <a:ext uri="{FF2B5EF4-FFF2-40B4-BE49-F238E27FC236}">
                <a16:creationId xmlns:a16="http://schemas.microsoft.com/office/drawing/2014/main" id="{625E7288-8582-4631-BA51-F7913D31B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>
            <a:extLst>
              <a:ext uri="{FF2B5EF4-FFF2-40B4-BE49-F238E27FC236}">
                <a16:creationId xmlns:a16="http://schemas.microsoft.com/office/drawing/2014/main" id="{214DD86F-9356-4959-9851-D4A9B0A8877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>
            <a:extLst>
              <a:ext uri="{FF2B5EF4-FFF2-40B4-BE49-F238E27FC236}">
                <a16:creationId xmlns:a16="http://schemas.microsoft.com/office/drawing/2014/main" id="{C4E356EF-4605-48B6-80DF-70597A3EB70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>
            <a:extLst>
              <a:ext uri="{FF2B5EF4-FFF2-40B4-BE49-F238E27FC236}">
                <a16:creationId xmlns:a16="http://schemas.microsoft.com/office/drawing/2014/main" id="{00591864-5CC0-436E-A9F9-FEE444E2CDC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394BB423-DE4D-4503-9B2E-55BAFDB8D1D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71DBDA78-CA8E-4914-96F4-C4DBD5A88B1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F62C609A-89F9-4327-9FA2-C8F910097F1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8615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52AF26C1-7F7A-40B1-B5A5-B63B1D31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2681D046-A1E7-4046-9388-FFCC84113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5C833862-1B9C-4D9D-90EC-BE1005C3E54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9" name="Google Shape;9;p1">
            <a:extLst>
              <a:ext uri="{FF2B5EF4-FFF2-40B4-BE49-F238E27FC236}">
                <a16:creationId xmlns:a16="http://schemas.microsoft.com/office/drawing/2014/main" id="{8BCD3C03-A4BA-445B-8B70-5F0ADD87318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4704B7D3-97EE-43D7-ABD4-FFD1790577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rand-accent">
            <a:extLst>
              <a:ext uri="{FF2B5EF4-FFF2-40B4-BE49-F238E27FC236}">
                <a16:creationId xmlns:a16="http://schemas.microsoft.com/office/drawing/2014/main" id="{01ADC735-6380-4D6E-8B70-B0362E76CE9F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66675" cy="495300"/>
          </a:xfrm>
          <a:prstGeom prst="rect">
            <a:avLst/>
          </a:prstGeom>
          <a:solidFill>
            <a:srgbClr val="D6A82E"/>
          </a:solidFill>
          <a:ln w="0">
            <a:noFill/>
            <a:prstDash val="solid"/>
          </a:ln>
        </p:spPr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D102802B-6327-496C-84BD-CD1FC3CE0998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4762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D6A8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A82E"/>
                </a:solidFill>
                <a:latin typeface="Arial"/>
                <a:ea typeface="Arial"/>
                <a:cs typeface="Arial"/>
              </a:rPr>
              <a:t>PRODUCT OWNER PERSPECTIVE</a:t>
            </a:r>
          </a:p>
        </p:txBody>
      </p:sp>
      <p:sp>
        <p:nvSpPr>
          <p:cNvPr id="3" name="slide-title">
            <a:extLst>
              <a:ext uri="{FF2B5EF4-FFF2-40B4-BE49-F238E27FC236}">
                <a16:creationId xmlns:a16="http://schemas.microsoft.com/office/drawing/2014/main" id="{2F7A7F8C-FCCE-417F-ADDC-A9699CF3FF88}"/>
              </a:ext>
            </a:extLst>
          </p:cNvPr>
          <p:cNvSpPr>
            <a:spLocks noGrp="1"/>
          </p:cNvSpPr>
          <p:nvPr/>
        </p:nvSpPr>
        <p:spPr>
          <a:xfrm>
            <a:off x="781050" y="685800"/>
            <a:ext cx="1066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118"/>
          </a:bodyPr>
          <a:lstStyle/>
          <a:p>
            <a:pPr algn="l">
              <a:lnSpc>
                <a:spcPct val="90000"/>
              </a:lnSpc>
              <a:buNone/>
              <a:defRPr sz="3450" b="1">
                <a:solidFill>
                  <a:srgbClr val="5B9AE6"/>
                </a:solidFill>
                <a:latin typeface="Arial"/>
                <a:ea typeface="Arial"/>
                <a:cs typeface="Arial"/>
              </a:defRPr>
            </a:pPr>
            <a:r>
              <a:rPr lang="en-US" sz="3450" b="1" dirty="0">
                <a:solidFill>
                  <a:srgbClr val="5B9AE6"/>
                </a:solidFill>
                <a:latin typeface="Arial"/>
                <a:ea typeface="Arial"/>
                <a:cs typeface="Arial"/>
              </a:rPr>
              <a:t>We are in a attention economy – and it is monetarized either into a physical products, arts, NFTS or Crypto</a:t>
            </a:r>
            <a:r>
              <a:rPr sz="3450" b="1" dirty="0">
                <a:solidFill>
                  <a:srgbClr val="5B9AE6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slide-subtitle">
            <a:extLst>
              <a:ext uri="{FF2B5EF4-FFF2-40B4-BE49-F238E27FC236}">
                <a16:creationId xmlns:a16="http://schemas.microsoft.com/office/drawing/2014/main" id="{FE71D0F3-9F48-46B3-B949-07B32774C990}"/>
              </a:ext>
            </a:extLst>
          </p:cNvPr>
          <p:cNvSpPr>
            <a:spLocks noGrp="1"/>
          </p:cNvSpPr>
          <p:nvPr/>
        </p:nvSpPr>
        <p:spPr>
          <a:xfrm>
            <a:off x="781050" y="1609725"/>
            <a:ext cx="10429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Tweeter, there is funny hair guy doing fist fight in his shorts vid, it got viral. 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65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the attention monetized into coin market value.</a:t>
            </a:r>
            <a:endParaRPr sz="165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arget-user">
            <a:extLst>
              <a:ext uri="{FF2B5EF4-FFF2-40B4-BE49-F238E27FC236}">
                <a16:creationId xmlns:a16="http://schemas.microsoft.com/office/drawing/2014/main" id="{8F0DE975-CC7E-439F-A078-D11D2D73760D}"/>
              </a:ext>
            </a:extLst>
          </p:cNvPr>
          <p:cNvSpPr>
            <a:spLocks noGrp="1"/>
          </p:cNvSpPr>
          <p:nvPr/>
        </p:nvSpPr>
        <p:spPr>
          <a:xfrm>
            <a:off x="781050" y="2228850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9FB7D3"/>
                </a:solidFill>
                <a:latin typeface="Arial"/>
                <a:ea typeface="Arial"/>
                <a:cs typeface="Arial"/>
              </a:defRPr>
            </a:pPr>
            <a:r>
              <a:rPr lang="en-US" sz="1050" b="1" dirty="0">
                <a:solidFill>
                  <a:srgbClr val="9FB7D3"/>
                </a:solidFill>
                <a:latin typeface="Arial"/>
                <a:ea typeface="Arial"/>
                <a:cs typeface="Arial"/>
              </a:rPr>
              <a:t>FOR HIGH-SPEED SOCIAL TRADERS HUNTING FOR ATTENTION OPPORTUNITY</a:t>
            </a:r>
          </a:p>
        </p:txBody>
      </p:sp>
      <p:sp>
        <p:nvSpPr>
          <p:cNvPr id="6" name="section-rule">
            <a:extLst>
              <a:ext uri="{FF2B5EF4-FFF2-40B4-BE49-F238E27FC236}">
                <a16:creationId xmlns:a16="http://schemas.microsoft.com/office/drawing/2014/main" id="{A14205FF-C3E6-43EB-B4B5-6F1BCF407EB3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10629900" cy="14288"/>
          </a:xfrm>
          <a:prstGeom prst="rect">
            <a:avLst/>
          </a:prstGeom>
          <a:solidFill>
            <a:srgbClr val="6F86B0"/>
          </a:solidFill>
          <a:ln w="0">
            <a:noFill/>
            <a:prstDash val="solid"/>
          </a:ln>
        </p:spPr>
      </p:sp>
      <p:sp>
        <p:nvSpPr>
          <p:cNvPr id="7" name="pain-number-01">
            <a:extLst>
              <a:ext uri="{FF2B5EF4-FFF2-40B4-BE49-F238E27FC236}">
                <a16:creationId xmlns:a16="http://schemas.microsoft.com/office/drawing/2014/main" id="{0E88B4BC-45A8-4D9B-BA2C-4A8280D988D2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D6A8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A82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ain-title-01">
            <a:extLst>
              <a:ext uri="{FF2B5EF4-FFF2-40B4-BE49-F238E27FC236}">
                <a16:creationId xmlns:a16="http://schemas.microsoft.com/office/drawing/2014/main" id="{DF891627-F3CE-44F7-8556-66ABF9368058}"/>
              </a:ext>
            </a:extLst>
          </p:cNvPr>
          <p:cNvSpPr>
            <a:spLocks noGrp="1"/>
          </p:cNvSpPr>
          <p:nvPr/>
        </p:nvSpPr>
        <p:spPr>
          <a:xfrm>
            <a:off x="1178719" y="2886075"/>
            <a:ext cx="3095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Tweet(s)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pain-number-02">
            <a:extLst>
              <a:ext uri="{FF2B5EF4-FFF2-40B4-BE49-F238E27FC236}">
                <a16:creationId xmlns:a16="http://schemas.microsoft.com/office/drawing/2014/main" id="{BCB28EEF-F7CF-4D5E-BFCF-9D766A8DBEBF}"/>
              </a:ext>
            </a:extLst>
          </p:cNvPr>
          <p:cNvSpPr>
            <a:spLocks noGrp="1"/>
          </p:cNvSpPr>
          <p:nvPr/>
        </p:nvSpPr>
        <p:spPr>
          <a:xfrm>
            <a:off x="3981450" y="2857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D6A8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A82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pain-number-03">
            <a:extLst>
              <a:ext uri="{FF2B5EF4-FFF2-40B4-BE49-F238E27FC236}">
                <a16:creationId xmlns:a16="http://schemas.microsoft.com/office/drawing/2014/main" id="{A55EF720-5CD5-4553-8123-9A81ADA0E145}"/>
              </a:ext>
            </a:extLst>
          </p:cNvPr>
          <p:cNvSpPr>
            <a:spLocks noGrp="1"/>
          </p:cNvSpPr>
          <p:nvPr/>
        </p:nvSpPr>
        <p:spPr>
          <a:xfrm>
            <a:off x="7715250" y="285750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D6A8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A82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pain-separator-1">
            <a:extLst>
              <a:ext uri="{FF2B5EF4-FFF2-40B4-BE49-F238E27FC236}">
                <a16:creationId xmlns:a16="http://schemas.microsoft.com/office/drawing/2014/main" id="{0AD85F98-76BF-4CD0-97F5-E90CCF192C8A}"/>
              </a:ext>
            </a:extLst>
          </p:cNvPr>
          <p:cNvSpPr>
            <a:spLocks noGrp="1"/>
          </p:cNvSpPr>
          <p:nvPr/>
        </p:nvSpPr>
        <p:spPr>
          <a:xfrm>
            <a:off x="3743325" y="2895600"/>
            <a:ext cx="14288" cy="1676400"/>
          </a:xfrm>
          <a:prstGeom prst="rect">
            <a:avLst/>
          </a:prstGeom>
          <a:solidFill>
            <a:srgbClr val="6F86B0"/>
          </a:solidFill>
          <a:ln w="0">
            <a:noFill/>
            <a:prstDash val="solid"/>
          </a:ln>
        </p:spPr>
      </p:sp>
      <p:sp>
        <p:nvSpPr>
          <p:cNvPr id="17" name="pain-separator-2">
            <a:extLst>
              <a:ext uri="{FF2B5EF4-FFF2-40B4-BE49-F238E27FC236}">
                <a16:creationId xmlns:a16="http://schemas.microsoft.com/office/drawing/2014/main" id="{206131EC-D80D-4081-8062-471ED8407E42}"/>
              </a:ext>
            </a:extLst>
          </p:cNvPr>
          <p:cNvSpPr>
            <a:spLocks noGrp="1"/>
          </p:cNvSpPr>
          <p:nvPr/>
        </p:nvSpPr>
        <p:spPr>
          <a:xfrm>
            <a:off x="7458075" y="2895600"/>
            <a:ext cx="14288" cy="1676400"/>
          </a:xfrm>
          <a:prstGeom prst="rect">
            <a:avLst/>
          </a:prstGeom>
          <a:solidFill>
            <a:srgbClr val="6F86B0"/>
          </a:solidFill>
          <a:ln w="0">
            <a:noFill/>
            <a:prstDash val="solid"/>
          </a:ln>
        </p:spPr>
      </p:sp>
      <p:sp>
        <p:nvSpPr>
          <p:cNvPr id="20" name="product-tagline">
            <a:extLst>
              <a:ext uri="{FF2B5EF4-FFF2-40B4-BE49-F238E27FC236}">
                <a16:creationId xmlns:a16="http://schemas.microsoft.com/office/drawing/2014/main" id="{B31D94A2-B10B-4328-8961-B47CF6528248}"/>
              </a:ext>
            </a:extLst>
          </p:cNvPr>
          <p:cNvSpPr>
            <a:spLocks noGrp="1"/>
          </p:cNvSpPr>
          <p:nvPr/>
        </p:nvSpPr>
        <p:spPr>
          <a:xfrm>
            <a:off x="3757613" y="6238875"/>
            <a:ext cx="735806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400" b="1" i="0" dirty="0">
                <a:solidFill>
                  <a:srgbClr val="22B7C7"/>
                </a:solidFill>
                <a:latin typeface="Arial"/>
              </a:rPr>
              <a:t>MEME-FAST  •  Track where attention turns into money.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D6A2CC-27D3-5411-6BA1-BB63BF83D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761"/>
          <a:stretch/>
        </p:blipFill>
        <p:spPr>
          <a:xfrm>
            <a:off x="1145581" y="3192663"/>
            <a:ext cx="2283419" cy="325612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DAE1D71-6021-0C49-48EC-946A333B39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5741" b="34066"/>
          <a:stretch/>
        </p:blipFill>
        <p:spPr>
          <a:xfrm>
            <a:off x="4370330" y="3192663"/>
            <a:ext cx="2763221" cy="27193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B5E2096-0B70-5A5A-664A-D0E3736133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789" b="29738"/>
          <a:stretch/>
        </p:blipFill>
        <p:spPr>
          <a:xfrm>
            <a:off x="8058150" y="3208438"/>
            <a:ext cx="3268766" cy="2408036"/>
          </a:xfrm>
          <a:prstGeom prst="rect">
            <a:avLst/>
          </a:prstGeom>
        </p:spPr>
      </p:pic>
      <p:sp>
        <p:nvSpPr>
          <p:cNvPr id="27" name="pain-title-01">
            <a:extLst>
              <a:ext uri="{FF2B5EF4-FFF2-40B4-BE49-F238E27FC236}">
                <a16:creationId xmlns:a16="http://schemas.microsoft.com/office/drawing/2014/main" id="{0D696A50-2631-1C98-2256-6E112043835E}"/>
              </a:ext>
            </a:extLst>
          </p:cNvPr>
          <p:cNvSpPr>
            <a:spLocks noGrp="1"/>
          </p:cNvSpPr>
          <p:nvPr/>
        </p:nvSpPr>
        <p:spPr>
          <a:xfrm>
            <a:off x="4361776" y="2895432"/>
            <a:ext cx="3095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Economics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ain-title-01">
            <a:extLst>
              <a:ext uri="{FF2B5EF4-FFF2-40B4-BE49-F238E27FC236}">
                <a16:creationId xmlns:a16="http://schemas.microsoft.com/office/drawing/2014/main" id="{F9A71BF3-46B5-B069-DFF1-CB22C3CDEE05}"/>
              </a:ext>
            </a:extLst>
          </p:cNvPr>
          <p:cNvSpPr>
            <a:spLocks noGrp="1"/>
          </p:cNvSpPr>
          <p:nvPr/>
        </p:nvSpPr>
        <p:spPr>
          <a:xfrm>
            <a:off x="8086725" y="2876551"/>
            <a:ext cx="30956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Utility</a:t>
            </a:r>
            <a:endParaRPr sz="172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product-tagline">
            <a:extLst>
              <a:ext uri="{FF2B5EF4-FFF2-40B4-BE49-F238E27FC236}">
                <a16:creationId xmlns:a16="http://schemas.microsoft.com/office/drawing/2014/main" id="{A6F401D6-BAF3-615A-1450-34E89FC82E2D}"/>
              </a:ext>
            </a:extLst>
          </p:cNvPr>
          <p:cNvSpPr>
            <a:spLocks noGrp="1"/>
          </p:cNvSpPr>
          <p:nvPr/>
        </p:nvSpPr>
        <p:spPr>
          <a:xfrm>
            <a:off x="9191625" y="2793949"/>
            <a:ext cx="116443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350" b="1">
                <a:solidFill>
                  <a:srgbClr val="22B7C7"/>
                </a:solidFill>
                <a:latin typeface="Arial"/>
                <a:ea typeface="Arial"/>
                <a:cs typeface="Arial"/>
              </a:defRPr>
            </a:pPr>
            <a:r>
              <a:rPr lang="en-US" sz="1350" b="1" dirty="0">
                <a:solidFill>
                  <a:srgbClr val="22B7C7"/>
                </a:solidFill>
                <a:latin typeface="Arial"/>
                <a:ea typeface="Arial"/>
                <a:cs typeface="Arial"/>
              </a:rPr>
              <a:t>MEME-FAST</a:t>
            </a:r>
            <a:endParaRPr sz="1350" b="1" dirty="0">
              <a:solidFill>
                <a:srgbClr val="22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3F3E11B-F78C-B4A0-61B4-9E1ED977950B}"/>
              </a:ext>
            </a:extLst>
          </p:cNvPr>
          <p:cNvSpPr/>
          <p:nvPr/>
        </p:nvSpPr>
        <p:spPr>
          <a:xfrm>
            <a:off x="4438650" y="5414963"/>
            <a:ext cx="667424" cy="309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/>
              <a:t>30k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7B76DB4-98C0-B6C6-3D7D-8B31F361E637}"/>
              </a:ext>
            </a:extLst>
          </p:cNvPr>
          <p:cNvSpPr/>
          <p:nvPr/>
        </p:nvSpPr>
        <p:spPr>
          <a:xfrm>
            <a:off x="6439464" y="3419138"/>
            <a:ext cx="667512" cy="3095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/>
              <a:t>6.6 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9AF8C6-36D0-FE1F-DC0F-AC449AFC22CE}"/>
              </a:ext>
            </a:extLst>
          </p:cNvPr>
          <p:cNvCxnSpPr/>
          <p:nvPr/>
        </p:nvCxnSpPr>
        <p:spPr>
          <a:xfrm flipV="1">
            <a:off x="5267325" y="4143375"/>
            <a:ext cx="1257300" cy="1285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5EFF7D21-14E9-875C-B8C7-813B1F83E0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9853" b="34440"/>
          <a:stretch/>
        </p:blipFill>
        <p:spPr>
          <a:xfrm>
            <a:off x="8918023" y="4996039"/>
            <a:ext cx="2876066" cy="107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5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78778EF-F2FF-CB96-8EBF-E3A1EA8070C2}"/>
              </a:ext>
            </a:extLst>
          </p:cNvPr>
          <p:cNvSpPr/>
          <p:nvPr/>
        </p:nvSpPr>
        <p:spPr>
          <a:xfrm>
            <a:off x="402336" y="438912"/>
            <a:ext cx="64008" cy="484632"/>
          </a:xfrm>
          <a:prstGeom prst="rect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2E3429-4C57-7035-AEDB-C4F2BB575D87}"/>
              </a:ext>
            </a:extLst>
          </p:cNvPr>
          <p:cNvSpPr txBox="1"/>
          <p:nvPr/>
        </p:nvSpPr>
        <p:spPr>
          <a:xfrm>
            <a:off x="658368" y="47548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>
                <a:solidFill>
                  <a:srgbClr val="D6A82E"/>
                </a:solidFill>
                <a:latin typeface="Arial"/>
              </a:rPr>
              <a:t>SOLUTION ARCHITECTURE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F36172-669C-D4AA-06B0-2B86D2BB99D1}"/>
              </a:ext>
            </a:extLst>
          </p:cNvPr>
          <p:cNvSpPr txBox="1"/>
          <p:nvPr/>
        </p:nvSpPr>
        <p:spPr>
          <a:xfrm>
            <a:off x="658368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>
                <a:solidFill>
                  <a:srgbClr val="5B9AE6"/>
                </a:solidFill>
                <a:latin typeface="Arial"/>
              </a:rPr>
              <a:t>Follow attention until it becomes market activity.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1B67DC-DDA6-253B-EA29-57B9FB4FB70A}"/>
              </a:ext>
            </a:extLst>
          </p:cNvPr>
          <p:cNvSpPr txBox="1"/>
          <p:nvPr/>
        </p:nvSpPr>
        <p:spPr>
          <a:xfrm>
            <a:off x="658368" y="1399032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0" i="0">
                <a:solidFill>
                  <a:srgbClr val="FFFFFF"/>
                </a:solidFill>
                <a:latin typeface="Arial"/>
              </a:rPr>
              <a:t>MEME-FAST connects the narrative, the token and the actual flow.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FEE6E863-710F-8239-1863-EC3157DE149E}"/>
              </a:ext>
            </a:extLst>
          </p:cNvPr>
          <p:cNvSpPr/>
          <p:nvPr/>
        </p:nvSpPr>
        <p:spPr>
          <a:xfrm>
            <a:off x="530352" y="1993392"/>
            <a:ext cx="11137392" cy="3337560"/>
          </a:xfrm>
          <a:prstGeom prst="roundRect">
            <a:avLst/>
          </a:prstGeom>
          <a:solidFill>
            <a:srgbClr val="C6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1E4BA6-EA67-5C95-40E2-7EB44B80CB27}"/>
              </a:ext>
            </a:extLst>
          </p:cNvPr>
          <p:cNvSpPr txBox="1"/>
          <p:nvPr/>
        </p:nvSpPr>
        <p:spPr>
          <a:xfrm>
            <a:off x="10149840" y="2112264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0">
                <a:solidFill>
                  <a:srgbClr val="7A96B6"/>
                </a:solidFill>
                <a:latin typeface="Arial"/>
              </a:rPr>
              <a:t>SYSTEM FLOW</a:t>
            </a:r>
          </a:p>
        </p:txBody>
      </p:sp>
      <p:sp>
        <p:nvSpPr>
          <p:cNvPr id="30" name="Rounded Rectangle 7">
            <a:extLst>
              <a:ext uri="{FF2B5EF4-FFF2-40B4-BE49-F238E27FC236}">
                <a16:creationId xmlns:a16="http://schemas.microsoft.com/office/drawing/2014/main" id="{01343670-D995-4776-877D-600F7A49192E}"/>
              </a:ext>
            </a:extLst>
          </p:cNvPr>
          <p:cNvSpPr/>
          <p:nvPr/>
        </p:nvSpPr>
        <p:spPr>
          <a:xfrm>
            <a:off x="758952" y="2395728"/>
            <a:ext cx="2212848" cy="2496312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B1C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1BAEC9-C989-9689-BE88-25C950FF66F5}"/>
              </a:ext>
            </a:extLst>
          </p:cNvPr>
          <p:cNvSpPr/>
          <p:nvPr/>
        </p:nvSpPr>
        <p:spPr>
          <a:xfrm>
            <a:off x="905256" y="2578608"/>
            <a:ext cx="356616" cy="356616"/>
          </a:xfrm>
          <a:prstGeom prst="ellipse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DCBB16-D03D-3119-5854-5EDC322517CC}"/>
              </a:ext>
            </a:extLst>
          </p:cNvPr>
          <p:cNvSpPr txBox="1"/>
          <p:nvPr/>
        </p:nvSpPr>
        <p:spPr>
          <a:xfrm>
            <a:off x="905256" y="2587751"/>
            <a:ext cx="356616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2D64"/>
                </a:solidFill>
                <a:latin typeface="Arial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A72AE-2875-046E-8F49-1074B91AA596}"/>
              </a:ext>
            </a:extLst>
          </p:cNvPr>
          <p:cNvSpPr txBox="1"/>
          <p:nvPr/>
        </p:nvSpPr>
        <p:spPr>
          <a:xfrm>
            <a:off x="923544" y="30449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172451"/>
                </a:solidFill>
                <a:latin typeface="Arial"/>
              </a:rPr>
              <a:t>ATTENTION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B67E6D-A3EA-23CD-7EE3-C887D10E9C9B}"/>
              </a:ext>
            </a:extLst>
          </p:cNvPr>
          <p:cNvSpPr txBox="1"/>
          <p:nvPr/>
        </p:nvSpPr>
        <p:spPr>
          <a:xfrm>
            <a:off x="923544" y="345643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4456F"/>
                </a:solidFill>
                <a:latin typeface="Arial"/>
              </a:rPr>
              <a:t>News • stories • social leads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41F9DD-A17B-EF4E-A6E5-2278F0EE1FF2}"/>
              </a:ext>
            </a:extLst>
          </p:cNvPr>
          <p:cNvSpPr txBox="1"/>
          <p:nvPr/>
        </p:nvSpPr>
        <p:spPr>
          <a:xfrm>
            <a:off x="923544" y="43159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2451"/>
                </a:solidFill>
                <a:latin typeface="Arial"/>
              </a:rPr>
              <a:t>What is getting noticed?</a:t>
            </a:r>
          </a:p>
        </p:txBody>
      </p:sp>
      <p:sp>
        <p:nvSpPr>
          <p:cNvPr id="45" name="Right Arrow 13">
            <a:extLst>
              <a:ext uri="{FF2B5EF4-FFF2-40B4-BE49-F238E27FC236}">
                <a16:creationId xmlns:a16="http://schemas.microsoft.com/office/drawing/2014/main" id="{3EF1024F-7043-BB65-6143-1ADC5C06936E}"/>
              </a:ext>
            </a:extLst>
          </p:cNvPr>
          <p:cNvSpPr/>
          <p:nvPr/>
        </p:nvSpPr>
        <p:spPr>
          <a:xfrm>
            <a:off x="3054096" y="3456432"/>
            <a:ext cx="237744" cy="310896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14">
            <a:extLst>
              <a:ext uri="{FF2B5EF4-FFF2-40B4-BE49-F238E27FC236}">
                <a16:creationId xmlns:a16="http://schemas.microsoft.com/office/drawing/2014/main" id="{2BEECE52-9E4B-6785-EC38-1C1818EF8536}"/>
              </a:ext>
            </a:extLst>
          </p:cNvPr>
          <p:cNvSpPr/>
          <p:nvPr/>
        </p:nvSpPr>
        <p:spPr>
          <a:xfrm>
            <a:off x="3410712" y="2395728"/>
            <a:ext cx="2212848" cy="2496312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B1C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2E7A3F1-AA91-3B59-231D-AF140158EB17}"/>
              </a:ext>
            </a:extLst>
          </p:cNvPr>
          <p:cNvSpPr/>
          <p:nvPr/>
        </p:nvSpPr>
        <p:spPr>
          <a:xfrm>
            <a:off x="3557016" y="2578608"/>
            <a:ext cx="356616" cy="356616"/>
          </a:xfrm>
          <a:prstGeom prst="ellipse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AF3C5F-44EF-292E-00A1-C7CA1C188555}"/>
              </a:ext>
            </a:extLst>
          </p:cNvPr>
          <p:cNvSpPr txBox="1"/>
          <p:nvPr/>
        </p:nvSpPr>
        <p:spPr>
          <a:xfrm>
            <a:off x="3557016" y="2587751"/>
            <a:ext cx="356616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2D64"/>
                </a:solidFill>
                <a:latin typeface="Arial"/>
              </a:rPr>
              <a:t>02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FB17A1-E43D-4A0F-181F-09FA7F826B96}"/>
              </a:ext>
            </a:extLst>
          </p:cNvPr>
          <p:cNvSpPr txBox="1"/>
          <p:nvPr/>
        </p:nvSpPr>
        <p:spPr>
          <a:xfrm>
            <a:off x="3575304" y="30449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172451"/>
                </a:solidFill>
                <a:latin typeface="Arial"/>
              </a:rPr>
              <a:t>TOKEN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E4769C-7B9A-0CF7-389D-AA2FB7579D75}"/>
              </a:ext>
            </a:extLst>
          </p:cNvPr>
          <p:cNvSpPr txBox="1"/>
          <p:nvPr/>
        </p:nvSpPr>
        <p:spPr>
          <a:xfrm>
            <a:off x="3575304" y="345643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4456F"/>
                </a:solidFill>
                <a:latin typeface="Arial"/>
              </a:rPr>
              <a:t>Fresh Solana / Base pools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B1B34D-47A7-DF0F-D45B-43831EAFF2A3}"/>
              </a:ext>
            </a:extLst>
          </p:cNvPr>
          <p:cNvSpPr txBox="1"/>
          <p:nvPr/>
        </p:nvSpPr>
        <p:spPr>
          <a:xfrm>
            <a:off x="3575304" y="43159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2451"/>
                </a:solidFill>
                <a:latin typeface="Arial"/>
              </a:rPr>
              <a:t>Where did the attention land?</a:t>
            </a:r>
          </a:p>
        </p:txBody>
      </p:sp>
      <p:sp>
        <p:nvSpPr>
          <p:cNvPr id="52" name="Right Arrow 20">
            <a:extLst>
              <a:ext uri="{FF2B5EF4-FFF2-40B4-BE49-F238E27FC236}">
                <a16:creationId xmlns:a16="http://schemas.microsoft.com/office/drawing/2014/main" id="{0629AE0F-17A5-2C41-074F-329DAC9F8790}"/>
              </a:ext>
            </a:extLst>
          </p:cNvPr>
          <p:cNvSpPr/>
          <p:nvPr/>
        </p:nvSpPr>
        <p:spPr>
          <a:xfrm>
            <a:off x="5705856" y="3456432"/>
            <a:ext cx="237744" cy="310896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21">
            <a:extLst>
              <a:ext uri="{FF2B5EF4-FFF2-40B4-BE49-F238E27FC236}">
                <a16:creationId xmlns:a16="http://schemas.microsoft.com/office/drawing/2014/main" id="{0F4D45D8-B5AD-7527-7B53-1172CF809431}"/>
              </a:ext>
            </a:extLst>
          </p:cNvPr>
          <p:cNvSpPr/>
          <p:nvPr/>
        </p:nvSpPr>
        <p:spPr>
          <a:xfrm>
            <a:off x="6062472" y="2395728"/>
            <a:ext cx="2212848" cy="2496312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B1C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8F019B4-BDE9-A164-C5AA-52BE554B7F53}"/>
              </a:ext>
            </a:extLst>
          </p:cNvPr>
          <p:cNvSpPr/>
          <p:nvPr/>
        </p:nvSpPr>
        <p:spPr>
          <a:xfrm>
            <a:off x="6208776" y="2578608"/>
            <a:ext cx="356616" cy="356616"/>
          </a:xfrm>
          <a:prstGeom prst="ellipse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CD1762E-DA28-8A63-7C9C-7BB1A3AA6EB0}"/>
              </a:ext>
            </a:extLst>
          </p:cNvPr>
          <p:cNvSpPr txBox="1"/>
          <p:nvPr/>
        </p:nvSpPr>
        <p:spPr>
          <a:xfrm>
            <a:off x="6208776" y="2587751"/>
            <a:ext cx="356616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2D64"/>
                </a:solidFill>
                <a:latin typeface="Arial"/>
              </a:rPr>
              <a:t>03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F7DB9F-FD60-C106-B63A-D3E75961B562}"/>
              </a:ext>
            </a:extLst>
          </p:cNvPr>
          <p:cNvSpPr txBox="1"/>
          <p:nvPr/>
        </p:nvSpPr>
        <p:spPr>
          <a:xfrm>
            <a:off x="6227064" y="30449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172451"/>
                </a:solidFill>
                <a:latin typeface="Arial"/>
              </a:rPr>
              <a:t>PARTICIPATION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3614FF-E684-5F06-2EB7-7B7599B379BC}"/>
              </a:ext>
            </a:extLst>
          </p:cNvPr>
          <p:cNvSpPr txBox="1"/>
          <p:nvPr/>
        </p:nvSpPr>
        <p:spPr>
          <a:xfrm>
            <a:off x="6227064" y="345643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4456F"/>
                </a:solidFill>
                <a:latin typeface="Arial"/>
              </a:rPr>
              <a:t>Liquidity • volume • buys / sells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8992A8A-D34C-4754-3F52-76F770FBDF1D}"/>
              </a:ext>
            </a:extLst>
          </p:cNvPr>
          <p:cNvSpPr txBox="1"/>
          <p:nvPr/>
        </p:nvSpPr>
        <p:spPr>
          <a:xfrm>
            <a:off x="6227064" y="43159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2451"/>
                </a:solidFill>
                <a:latin typeface="Arial"/>
              </a:rPr>
              <a:t>Is money actually moving?</a:t>
            </a:r>
          </a:p>
        </p:txBody>
      </p:sp>
      <p:sp>
        <p:nvSpPr>
          <p:cNvPr id="59" name="Right Arrow 27">
            <a:extLst>
              <a:ext uri="{FF2B5EF4-FFF2-40B4-BE49-F238E27FC236}">
                <a16:creationId xmlns:a16="http://schemas.microsoft.com/office/drawing/2014/main" id="{BEDC375C-46A4-4B43-B494-040BECAF4E55}"/>
              </a:ext>
            </a:extLst>
          </p:cNvPr>
          <p:cNvSpPr/>
          <p:nvPr/>
        </p:nvSpPr>
        <p:spPr>
          <a:xfrm>
            <a:off x="8357616" y="3456432"/>
            <a:ext cx="237744" cy="310896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28">
            <a:extLst>
              <a:ext uri="{FF2B5EF4-FFF2-40B4-BE49-F238E27FC236}">
                <a16:creationId xmlns:a16="http://schemas.microsoft.com/office/drawing/2014/main" id="{68D5BEC8-86BE-9F79-370E-5922E54EBE0D}"/>
              </a:ext>
            </a:extLst>
          </p:cNvPr>
          <p:cNvSpPr/>
          <p:nvPr/>
        </p:nvSpPr>
        <p:spPr>
          <a:xfrm>
            <a:off x="8714232" y="2395728"/>
            <a:ext cx="2212848" cy="2496312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B1C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378E52EE-4101-1AFD-78BB-3728BCF37B31}"/>
              </a:ext>
            </a:extLst>
          </p:cNvPr>
          <p:cNvSpPr/>
          <p:nvPr/>
        </p:nvSpPr>
        <p:spPr>
          <a:xfrm>
            <a:off x="8860536" y="2578608"/>
            <a:ext cx="356616" cy="356616"/>
          </a:xfrm>
          <a:prstGeom prst="ellipse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9764F7-52E8-BBE2-16D6-D96BFE93728D}"/>
              </a:ext>
            </a:extLst>
          </p:cNvPr>
          <p:cNvSpPr txBox="1"/>
          <p:nvPr/>
        </p:nvSpPr>
        <p:spPr>
          <a:xfrm>
            <a:off x="8860536" y="2587751"/>
            <a:ext cx="356616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02D64"/>
                </a:solidFill>
                <a:latin typeface="Arial"/>
              </a:rPr>
              <a:t>04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E6E7C9-C74B-253C-8FB3-AC45A7552AAC}"/>
              </a:ext>
            </a:extLst>
          </p:cNvPr>
          <p:cNvSpPr txBox="1"/>
          <p:nvPr/>
        </p:nvSpPr>
        <p:spPr>
          <a:xfrm>
            <a:off x="8878824" y="3044952"/>
            <a:ext cx="187451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20" b="1" i="0">
                <a:solidFill>
                  <a:srgbClr val="172451"/>
                </a:solidFill>
                <a:latin typeface="Arial"/>
              </a:rPr>
              <a:t>FOCUS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A72752-749D-7C31-6FE1-DA53EAA1D7EC}"/>
              </a:ext>
            </a:extLst>
          </p:cNvPr>
          <p:cNvSpPr txBox="1"/>
          <p:nvPr/>
        </p:nvSpPr>
        <p:spPr>
          <a:xfrm>
            <a:off x="8878824" y="345643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4456F"/>
                </a:solidFill>
                <a:latin typeface="Arial"/>
              </a:rPr>
              <a:t>Order flow • watchlist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6CCB31-0CDE-BB88-807F-62D94B92D8A9}"/>
              </a:ext>
            </a:extLst>
          </p:cNvPr>
          <p:cNvSpPr txBox="1"/>
          <p:nvPr/>
        </p:nvSpPr>
        <p:spPr>
          <a:xfrm>
            <a:off x="8878824" y="4315968"/>
            <a:ext cx="18745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172451"/>
                </a:solidFill>
                <a:latin typeface="Arial"/>
              </a:rPr>
              <a:t>What deserves a closer look?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4B73955-DC73-0DEE-B401-51A3CB82E0F5}"/>
              </a:ext>
            </a:extLst>
          </p:cNvPr>
          <p:cNvSpPr txBox="1"/>
          <p:nvPr/>
        </p:nvSpPr>
        <p:spPr>
          <a:xfrm>
            <a:off x="685800" y="5650992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ATTENTION  →  TOKEN  →  PARTICIPATION  →  FOCUS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CF5703-FFFE-4690-9229-8D1FEA90F15F}"/>
              </a:ext>
            </a:extLst>
          </p:cNvPr>
          <p:cNvSpPr txBox="1"/>
          <p:nvPr/>
        </p:nvSpPr>
        <p:spPr>
          <a:xfrm>
            <a:off x="8247888" y="569671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20" b="1" i="0">
                <a:solidFill>
                  <a:srgbClr val="9FB7D3"/>
                </a:solidFill>
                <a:latin typeface="Arial"/>
              </a:rPr>
              <a:t>5-minute scan  •  Solana + Base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FABFF4-AAE1-BF79-9E7B-174F7BB40EB6}"/>
              </a:ext>
            </a:extLst>
          </p:cNvPr>
          <p:cNvSpPr txBox="1"/>
          <p:nvPr/>
        </p:nvSpPr>
        <p:spPr>
          <a:xfrm>
            <a:off x="685800" y="6153912"/>
            <a:ext cx="5120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0" i="0">
                <a:solidFill>
                  <a:srgbClr val="22B7C7"/>
                </a:solidFill>
                <a:latin typeface="Arial"/>
              </a:rPr>
              <a:t>Product concept, requirements and build: Benedict Yong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7F92F3C-3272-1955-378D-D0F3B4D6252C}"/>
              </a:ext>
            </a:extLst>
          </p:cNvPr>
          <p:cNvSpPr txBox="1"/>
          <p:nvPr/>
        </p:nvSpPr>
        <p:spPr>
          <a:xfrm>
            <a:off x="7726679" y="6153912"/>
            <a:ext cx="37673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19" b="0" i="0">
                <a:solidFill>
                  <a:srgbClr val="9FB7D3"/>
                </a:solidFill>
                <a:latin typeface="Arial"/>
              </a:rPr>
              <a:t>AI-assisted development with Claude and Codex</a:t>
            </a:r>
          </a:p>
        </p:txBody>
      </p:sp>
    </p:spTree>
    <p:extLst>
      <p:ext uri="{BB962C8B-B14F-4D97-AF65-F5344CB8AC3E}">
        <p14:creationId xmlns:p14="http://schemas.microsoft.com/office/powerpoint/2010/main" val="3508815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D5235F-50D0-42FA-43CD-6672131F4214}"/>
              </a:ext>
            </a:extLst>
          </p:cNvPr>
          <p:cNvSpPr/>
          <p:nvPr/>
        </p:nvSpPr>
        <p:spPr>
          <a:xfrm>
            <a:off x="402336" y="438912"/>
            <a:ext cx="64008" cy="484632"/>
          </a:xfrm>
          <a:prstGeom prst="rect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F7C36-DEEF-0F4F-FCA6-E1CFC5A37D37}"/>
              </a:ext>
            </a:extLst>
          </p:cNvPr>
          <p:cNvSpPr txBox="1"/>
          <p:nvPr/>
        </p:nvSpPr>
        <p:spPr>
          <a:xfrm>
            <a:off x="658368" y="475488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dirty="0">
                <a:solidFill>
                  <a:srgbClr val="D6A82E"/>
                </a:solidFill>
                <a:latin typeface="Arial"/>
              </a:rPr>
              <a:t>SOLUTION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1DDFE-9197-991F-797B-94F51B00194F}"/>
              </a:ext>
            </a:extLst>
          </p:cNvPr>
          <p:cNvSpPr txBox="1"/>
          <p:nvPr/>
        </p:nvSpPr>
        <p:spPr>
          <a:xfrm>
            <a:off x="658368" y="713232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50" b="1" i="0">
                <a:solidFill>
                  <a:srgbClr val="5B9AE6"/>
                </a:solidFill>
                <a:latin typeface="Arial"/>
              </a:rPr>
              <a:t>The wiring under MEME-FAST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BAA8C-7061-8691-E379-36875F13E07E}"/>
              </a:ext>
            </a:extLst>
          </p:cNvPr>
          <p:cNvSpPr txBox="1"/>
          <p:nvPr/>
        </p:nvSpPr>
        <p:spPr>
          <a:xfrm>
            <a:off x="658368" y="1399032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20" b="0" i="0">
                <a:solidFill>
                  <a:srgbClr val="FFFFFF"/>
                </a:solidFill>
                <a:latin typeface="Arial"/>
              </a:rPr>
              <a:t>Public signals on the left. Trader context on the right.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92309-ABE9-36EC-3149-27B24294F534}"/>
              </a:ext>
            </a:extLst>
          </p:cNvPr>
          <p:cNvSpPr txBox="1"/>
          <p:nvPr/>
        </p:nvSpPr>
        <p:spPr>
          <a:xfrm>
            <a:off x="658368" y="193852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 i="0">
                <a:solidFill>
                  <a:srgbClr val="9FB7D3"/>
                </a:solidFill>
                <a:latin typeface="Arial"/>
              </a:rPr>
              <a:t>INPUTS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DE91F918-9D17-75C9-BF83-C44986321B67}"/>
              </a:ext>
            </a:extLst>
          </p:cNvPr>
          <p:cNvSpPr/>
          <p:nvPr/>
        </p:nvSpPr>
        <p:spPr>
          <a:xfrm>
            <a:off x="658368" y="2304288"/>
            <a:ext cx="2606040" cy="658368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ADC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AF743-191C-E86A-8FD5-83F7EF57E5AC}"/>
              </a:ext>
            </a:extLst>
          </p:cNvPr>
          <p:cNvSpPr txBox="1"/>
          <p:nvPr/>
        </p:nvSpPr>
        <p:spPr>
          <a:xfrm>
            <a:off x="812673" y="239572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>
                <a:solidFill>
                  <a:srgbClr val="D6A82E"/>
                </a:solidFill>
                <a:latin typeface="Arial"/>
              </a:rPr>
              <a:t>PUBLIC NEWS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8D0D9B-024C-EBEF-7B52-C35A57DEB1DA}"/>
              </a:ext>
            </a:extLst>
          </p:cNvPr>
          <p:cNvSpPr txBox="1"/>
          <p:nvPr/>
        </p:nvSpPr>
        <p:spPr>
          <a:xfrm>
            <a:off x="1776984" y="2377440"/>
            <a:ext cx="14173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72451"/>
                </a:solidFill>
                <a:latin typeface="Arial"/>
              </a:rPr>
              <a:t>Coin telegraph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F9C638-9A5E-9D25-0DAE-75433CB0EBD4}"/>
              </a:ext>
            </a:extLst>
          </p:cNvPr>
          <p:cNvSpPr txBox="1"/>
          <p:nvPr/>
        </p:nvSpPr>
        <p:spPr>
          <a:xfrm>
            <a:off x="1776984" y="263347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4456F"/>
                </a:solidFill>
                <a:latin typeface="Arial"/>
              </a:rPr>
              <a:t>headline evidence</a:t>
            </a:r>
          </a:p>
        </p:txBody>
      </p:sp>
      <p:sp>
        <p:nvSpPr>
          <p:cNvPr id="30" name="Rounded Rectangle 10">
            <a:extLst>
              <a:ext uri="{FF2B5EF4-FFF2-40B4-BE49-F238E27FC236}">
                <a16:creationId xmlns:a16="http://schemas.microsoft.com/office/drawing/2014/main" id="{DF23C79A-A1F1-BC9C-83D1-A8D652966E29}"/>
              </a:ext>
            </a:extLst>
          </p:cNvPr>
          <p:cNvSpPr/>
          <p:nvPr/>
        </p:nvSpPr>
        <p:spPr>
          <a:xfrm>
            <a:off x="658368" y="3154680"/>
            <a:ext cx="2606040" cy="658368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ADC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74403D-FB3E-44F5-D43E-881784AC9300}"/>
              </a:ext>
            </a:extLst>
          </p:cNvPr>
          <p:cNvSpPr txBox="1"/>
          <p:nvPr/>
        </p:nvSpPr>
        <p:spPr>
          <a:xfrm>
            <a:off x="812673" y="324612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D6A82E"/>
                </a:solidFill>
                <a:latin typeface="Arial"/>
              </a:rPr>
              <a:t>MARKET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B4F37F-D2B7-95C2-3C11-9BA2736217DB}"/>
              </a:ext>
            </a:extLst>
          </p:cNvPr>
          <p:cNvSpPr txBox="1"/>
          <p:nvPr/>
        </p:nvSpPr>
        <p:spPr>
          <a:xfrm>
            <a:off x="1776984" y="322783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72451"/>
                </a:solidFill>
                <a:latin typeface="Arial"/>
              </a:rPr>
              <a:t>GeckoTerminal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9138A0-74E8-65CB-21FD-EA11BC0A0BBD}"/>
              </a:ext>
            </a:extLst>
          </p:cNvPr>
          <p:cNvSpPr txBox="1"/>
          <p:nvPr/>
        </p:nvSpPr>
        <p:spPr>
          <a:xfrm>
            <a:off x="1776984" y="3483864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4456F"/>
                </a:solidFill>
                <a:latin typeface="Arial"/>
              </a:rPr>
              <a:t>pools • liquidity • activity</a:t>
            </a:r>
          </a:p>
        </p:txBody>
      </p:sp>
      <p:sp>
        <p:nvSpPr>
          <p:cNvPr id="37" name="Rounded Rectangle 14">
            <a:extLst>
              <a:ext uri="{FF2B5EF4-FFF2-40B4-BE49-F238E27FC236}">
                <a16:creationId xmlns:a16="http://schemas.microsoft.com/office/drawing/2014/main" id="{1C095939-9EEB-D22A-39E2-2C66EABB1CB6}"/>
              </a:ext>
            </a:extLst>
          </p:cNvPr>
          <p:cNvSpPr/>
          <p:nvPr/>
        </p:nvSpPr>
        <p:spPr>
          <a:xfrm>
            <a:off x="658368" y="4005072"/>
            <a:ext cx="2606040" cy="658368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ADC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F2F6C6-F6E1-5214-2407-58ABB38AA517}"/>
              </a:ext>
            </a:extLst>
          </p:cNvPr>
          <p:cNvSpPr txBox="1"/>
          <p:nvPr/>
        </p:nvSpPr>
        <p:spPr>
          <a:xfrm>
            <a:off x="812673" y="4096511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D6A82E"/>
                </a:solidFill>
                <a:latin typeface="Arial"/>
              </a:rPr>
              <a:t>TOKEN LOOKUP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FFC871-7784-F5F0-5BC7-7CA224C769FA}"/>
              </a:ext>
            </a:extLst>
          </p:cNvPr>
          <p:cNvSpPr txBox="1"/>
          <p:nvPr/>
        </p:nvSpPr>
        <p:spPr>
          <a:xfrm>
            <a:off x="1776984" y="407822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72451"/>
                </a:solidFill>
                <a:latin typeface="Arial"/>
              </a:rPr>
              <a:t>DEX Screener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74CECD-6DAE-B260-8479-11C6A5EBCF31}"/>
              </a:ext>
            </a:extLst>
          </p:cNvPr>
          <p:cNvSpPr txBox="1"/>
          <p:nvPr/>
        </p:nvSpPr>
        <p:spPr>
          <a:xfrm>
            <a:off x="1776984" y="433425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 i="0">
                <a:solidFill>
                  <a:srgbClr val="34456F"/>
                </a:solidFill>
                <a:latin typeface="Arial"/>
              </a:rPr>
              <a:t>discovery support</a:t>
            </a:r>
          </a:p>
        </p:txBody>
      </p:sp>
      <p:sp>
        <p:nvSpPr>
          <p:cNvPr id="51" name="Rounded Rectangle 18">
            <a:extLst>
              <a:ext uri="{FF2B5EF4-FFF2-40B4-BE49-F238E27FC236}">
                <a16:creationId xmlns:a16="http://schemas.microsoft.com/office/drawing/2014/main" id="{D32EB956-0F16-EC16-359F-5234AE658C0F}"/>
              </a:ext>
            </a:extLst>
          </p:cNvPr>
          <p:cNvSpPr/>
          <p:nvPr/>
        </p:nvSpPr>
        <p:spPr>
          <a:xfrm>
            <a:off x="3822191" y="2167128"/>
            <a:ext cx="4023360" cy="2907792"/>
          </a:xfrm>
          <a:prstGeom prst="roundRect">
            <a:avLst/>
          </a:prstGeom>
          <a:solidFill>
            <a:srgbClr val="BBD8EA"/>
          </a:solidFill>
          <a:ln w="12700">
            <a:solidFill>
              <a:srgbClr val="22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546184-9A21-FEF2-528D-548CBDC61A99}"/>
              </a:ext>
            </a:extLst>
          </p:cNvPr>
          <p:cNvSpPr txBox="1"/>
          <p:nvPr/>
        </p:nvSpPr>
        <p:spPr>
          <a:xfrm>
            <a:off x="4096512" y="2395728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72451"/>
                </a:solidFill>
                <a:latin typeface="Arial"/>
              </a:rPr>
              <a:t>MEME-FAST ENGINE</a:t>
            </a:r>
          </a:p>
        </p:txBody>
      </p:sp>
      <p:sp>
        <p:nvSpPr>
          <p:cNvPr id="60" name="Rounded Rectangle 20">
            <a:extLst>
              <a:ext uri="{FF2B5EF4-FFF2-40B4-BE49-F238E27FC236}">
                <a16:creationId xmlns:a16="http://schemas.microsoft.com/office/drawing/2014/main" id="{39B7264A-1E4D-C88B-7704-B2445EE1E789}"/>
              </a:ext>
            </a:extLst>
          </p:cNvPr>
          <p:cNvSpPr/>
          <p:nvPr/>
        </p:nvSpPr>
        <p:spPr>
          <a:xfrm>
            <a:off x="4160520" y="2944368"/>
            <a:ext cx="1490472" cy="566928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A4B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DDF038-9606-DE94-41DF-04A2DF895F5C}"/>
              </a:ext>
            </a:extLst>
          </p:cNvPr>
          <p:cNvSpPr txBox="1"/>
          <p:nvPr/>
        </p:nvSpPr>
        <p:spPr>
          <a:xfrm>
            <a:off x="4160520" y="303580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0" b="1" i="0">
                <a:solidFill>
                  <a:srgbClr val="172451"/>
                </a:solidFill>
                <a:latin typeface="Arial"/>
              </a:rPr>
              <a:t>DISCOVER</a:t>
            </a:r>
          </a:p>
        </p:txBody>
      </p:sp>
      <p:sp>
        <p:nvSpPr>
          <p:cNvPr id="68" name="Rounded Rectangle 22">
            <a:extLst>
              <a:ext uri="{FF2B5EF4-FFF2-40B4-BE49-F238E27FC236}">
                <a16:creationId xmlns:a16="http://schemas.microsoft.com/office/drawing/2014/main" id="{FCBEF5E8-50F4-7FE5-DAB8-C1918D06A5EA}"/>
              </a:ext>
            </a:extLst>
          </p:cNvPr>
          <p:cNvSpPr/>
          <p:nvPr/>
        </p:nvSpPr>
        <p:spPr>
          <a:xfrm>
            <a:off x="5897880" y="2944368"/>
            <a:ext cx="1490472" cy="566928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A4B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EBEA44-6BD4-1100-9486-7EE8D5518B42}"/>
              </a:ext>
            </a:extLst>
          </p:cNvPr>
          <p:cNvSpPr txBox="1"/>
          <p:nvPr/>
        </p:nvSpPr>
        <p:spPr>
          <a:xfrm>
            <a:off x="5897880" y="3035808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0" b="1" i="0">
                <a:solidFill>
                  <a:srgbClr val="172451"/>
                </a:solidFill>
                <a:latin typeface="Arial"/>
              </a:rPr>
              <a:t>GROUP</a:t>
            </a:r>
          </a:p>
        </p:txBody>
      </p:sp>
      <p:sp>
        <p:nvSpPr>
          <p:cNvPr id="71" name="Rounded Rectangle 24">
            <a:extLst>
              <a:ext uri="{FF2B5EF4-FFF2-40B4-BE49-F238E27FC236}">
                <a16:creationId xmlns:a16="http://schemas.microsoft.com/office/drawing/2014/main" id="{5B7E0284-1E41-DCF5-26C9-22A9E2A82800}"/>
              </a:ext>
            </a:extLst>
          </p:cNvPr>
          <p:cNvSpPr/>
          <p:nvPr/>
        </p:nvSpPr>
        <p:spPr>
          <a:xfrm>
            <a:off x="4160520" y="3822191"/>
            <a:ext cx="1490472" cy="566928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A4B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039477-EC87-309D-5CF9-23313AD7F32D}"/>
              </a:ext>
            </a:extLst>
          </p:cNvPr>
          <p:cNvSpPr txBox="1"/>
          <p:nvPr/>
        </p:nvSpPr>
        <p:spPr>
          <a:xfrm>
            <a:off x="4160520" y="3913631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0" b="1" i="0">
                <a:solidFill>
                  <a:srgbClr val="172451"/>
                </a:solidFill>
                <a:latin typeface="Arial"/>
              </a:rPr>
              <a:t>MATCH</a:t>
            </a:r>
          </a:p>
        </p:txBody>
      </p:sp>
      <p:sp>
        <p:nvSpPr>
          <p:cNvPr id="73" name="Rounded Rectangle 26">
            <a:extLst>
              <a:ext uri="{FF2B5EF4-FFF2-40B4-BE49-F238E27FC236}">
                <a16:creationId xmlns:a16="http://schemas.microsoft.com/office/drawing/2014/main" id="{1231848F-A962-0CE3-6F78-1958E5AAA5C5}"/>
              </a:ext>
            </a:extLst>
          </p:cNvPr>
          <p:cNvSpPr/>
          <p:nvPr/>
        </p:nvSpPr>
        <p:spPr>
          <a:xfrm>
            <a:off x="5897880" y="3822191"/>
            <a:ext cx="1490472" cy="566928"/>
          </a:xfrm>
          <a:prstGeom prst="roundRect">
            <a:avLst/>
          </a:prstGeom>
          <a:solidFill>
            <a:srgbClr val="E8F3FB"/>
          </a:solidFill>
          <a:ln w="12700">
            <a:solidFill>
              <a:srgbClr val="A4BE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F24E40-ACD7-ACB5-5FF4-24286E84AB82}"/>
              </a:ext>
            </a:extLst>
          </p:cNvPr>
          <p:cNvSpPr txBox="1"/>
          <p:nvPr/>
        </p:nvSpPr>
        <p:spPr>
          <a:xfrm>
            <a:off x="5897880" y="3913631"/>
            <a:ext cx="14904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20" b="1" i="0">
                <a:solidFill>
                  <a:srgbClr val="172451"/>
                </a:solidFill>
                <a:latin typeface="Arial"/>
              </a:rPr>
              <a:t>RANK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D022D39-2976-DAC0-F716-44C80F2C412B}"/>
              </a:ext>
            </a:extLst>
          </p:cNvPr>
          <p:cNvSpPr txBox="1"/>
          <p:nvPr/>
        </p:nvSpPr>
        <p:spPr>
          <a:xfrm>
            <a:off x="4187952" y="4599432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30" b="1" i="0">
                <a:solidFill>
                  <a:srgbClr val="34456F"/>
                </a:solidFill>
                <a:latin typeface="Arial"/>
              </a:rPr>
              <a:t>Narrative + contract + market context</a:t>
            </a:r>
          </a:p>
        </p:txBody>
      </p:sp>
      <p:sp>
        <p:nvSpPr>
          <p:cNvPr id="77" name="Right Arrow 29">
            <a:extLst>
              <a:ext uri="{FF2B5EF4-FFF2-40B4-BE49-F238E27FC236}">
                <a16:creationId xmlns:a16="http://schemas.microsoft.com/office/drawing/2014/main" id="{B2E6EAAA-0720-8B4F-7B4A-1303DF2FFAC8}"/>
              </a:ext>
            </a:extLst>
          </p:cNvPr>
          <p:cNvSpPr/>
          <p:nvPr/>
        </p:nvSpPr>
        <p:spPr>
          <a:xfrm>
            <a:off x="3401568" y="3355848"/>
            <a:ext cx="310896" cy="384048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ight Arrow 30">
            <a:extLst>
              <a:ext uri="{FF2B5EF4-FFF2-40B4-BE49-F238E27FC236}">
                <a16:creationId xmlns:a16="http://schemas.microsoft.com/office/drawing/2014/main" id="{03598EA6-74F1-FB7B-7CF7-7EFECD6A3B02}"/>
              </a:ext>
            </a:extLst>
          </p:cNvPr>
          <p:cNvSpPr/>
          <p:nvPr/>
        </p:nvSpPr>
        <p:spPr>
          <a:xfrm>
            <a:off x="7973568" y="3355848"/>
            <a:ext cx="310896" cy="384048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2F4C12-3250-59EB-300E-2984A396AA8E}"/>
              </a:ext>
            </a:extLst>
          </p:cNvPr>
          <p:cNvSpPr txBox="1"/>
          <p:nvPr/>
        </p:nvSpPr>
        <p:spPr>
          <a:xfrm>
            <a:off x="8549640" y="19385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30" b="1" i="0">
                <a:solidFill>
                  <a:srgbClr val="9FB7D3"/>
                </a:solidFill>
                <a:latin typeface="Arial"/>
              </a:rPr>
              <a:t>TRADER VIEW</a:t>
            </a:r>
          </a:p>
        </p:txBody>
      </p:sp>
      <p:sp>
        <p:nvSpPr>
          <p:cNvPr id="82" name="Rounded Rectangle 32">
            <a:extLst>
              <a:ext uri="{FF2B5EF4-FFF2-40B4-BE49-F238E27FC236}">
                <a16:creationId xmlns:a16="http://schemas.microsoft.com/office/drawing/2014/main" id="{220CD70F-DC91-76F9-1380-AFD02E0575DD}"/>
              </a:ext>
            </a:extLst>
          </p:cNvPr>
          <p:cNvSpPr/>
          <p:nvPr/>
        </p:nvSpPr>
        <p:spPr>
          <a:xfrm>
            <a:off x="8549640" y="2286000"/>
            <a:ext cx="2971800" cy="512064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ADC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FAE13BF-958B-60DD-EDF4-39E093F0D719}"/>
              </a:ext>
            </a:extLst>
          </p:cNvPr>
          <p:cNvSpPr txBox="1"/>
          <p:nvPr/>
        </p:nvSpPr>
        <p:spPr>
          <a:xfrm>
            <a:off x="8732520" y="2359152"/>
            <a:ext cx="8503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72451"/>
                </a:solidFill>
                <a:latin typeface="Arial"/>
              </a:rPr>
              <a:t>TWEET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1B91D04-53F0-DDDC-6161-28B32D1863BE}"/>
              </a:ext>
            </a:extLst>
          </p:cNvPr>
          <p:cNvSpPr txBox="1"/>
          <p:nvPr/>
        </p:nvSpPr>
        <p:spPr>
          <a:xfrm>
            <a:off x="9582912" y="2359152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4456F"/>
                </a:solidFill>
                <a:latin typeface="Arial"/>
              </a:rPr>
              <a:t>What is getting attention?</a:t>
            </a:r>
          </a:p>
        </p:txBody>
      </p:sp>
      <p:sp>
        <p:nvSpPr>
          <p:cNvPr id="85" name="Rounded Rectangle 35">
            <a:extLst>
              <a:ext uri="{FF2B5EF4-FFF2-40B4-BE49-F238E27FC236}">
                <a16:creationId xmlns:a16="http://schemas.microsoft.com/office/drawing/2014/main" id="{0152CBD7-E894-36B4-A497-15F0688E03DB}"/>
              </a:ext>
            </a:extLst>
          </p:cNvPr>
          <p:cNvSpPr/>
          <p:nvPr/>
        </p:nvSpPr>
        <p:spPr>
          <a:xfrm>
            <a:off x="8549640" y="2971800"/>
            <a:ext cx="2971800" cy="512064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ADC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C4773A-3BD1-2709-A109-C36984E6FAD7}"/>
              </a:ext>
            </a:extLst>
          </p:cNvPr>
          <p:cNvSpPr txBox="1"/>
          <p:nvPr/>
        </p:nvSpPr>
        <p:spPr>
          <a:xfrm>
            <a:off x="8732520" y="3044952"/>
            <a:ext cx="8503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72451"/>
                </a:solidFill>
                <a:latin typeface="Arial"/>
              </a:rPr>
              <a:t>COIN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1A77BAF-5580-48C2-38DC-E212F1D96220}"/>
              </a:ext>
            </a:extLst>
          </p:cNvPr>
          <p:cNvSpPr txBox="1"/>
          <p:nvPr/>
        </p:nvSpPr>
        <p:spPr>
          <a:xfrm>
            <a:off x="9582912" y="3044952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4456F"/>
                </a:solidFill>
                <a:latin typeface="Arial"/>
              </a:rPr>
              <a:t>Where is participation?</a:t>
            </a:r>
          </a:p>
        </p:txBody>
      </p:sp>
      <p:sp>
        <p:nvSpPr>
          <p:cNvPr id="88" name="Rounded Rectangle 38">
            <a:extLst>
              <a:ext uri="{FF2B5EF4-FFF2-40B4-BE49-F238E27FC236}">
                <a16:creationId xmlns:a16="http://schemas.microsoft.com/office/drawing/2014/main" id="{39C74CC3-73B7-732A-9147-E73984F4F930}"/>
              </a:ext>
            </a:extLst>
          </p:cNvPr>
          <p:cNvSpPr/>
          <p:nvPr/>
        </p:nvSpPr>
        <p:spPr>
          <a:xfrm>
            <a:off x="8549640" y="3657600"/>
            <a:ext cx="2971800" cy="512064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ADC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CE45E54-846A-6E6B-9F5D-BDBD0B1E3483}"/>
              </a:ext>
            </a:extLst>
          </p:cNvPr>
          <p:cNvSpPr txBox="1"/>
          <p:nvPr/>
        </p:nvSpPr>
        <p:spPr>
          <a:xfrm>
            <a:off x="8732520" y="3730752"/>
            <a:ext cx="8503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72451"/>
                </a:solidFill>
                <a:latin typeface="Arial"/>
              </a:rPr>
              <a:t>ORDER FLOW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C64795F-1CB7-1F95-260F-E2669D2A76F4}"/>
              </a:ext>
            </a:extLst>
          </p:cNvPr>
          <p:cNvSpPr txBox="1"/>
          <p:nvPr/>
        </p:nvSpPr>
        <p:spPr>
          <a:xfrm>
            <a:off x="9582912" y="3730752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4456F"/>
                </a:solidFill>
                <a:latin typeface="Arial"/>
              </a:rPr>
              <a:t>Where are swaps flowing?</a:t>
            </a:r>
          </a:p>
        </p:txBody>
      </p:sp>
      <p:sp>
        <p:nvSpPr>
          <p:cNvPr id="91" name="Rounded Rectangle 41">
            <a:extLst>
              <a:ext uri="{FF2B5EF4-FFF2-40B4-BE49-F238E27FC236}">
                <a16:creationId xmlns:a16="http://schemas.microsoft.com/office/drawing/2014/main" id="{2A88E09E-7AD3-9416-4FEF-987026627FB1}"/>
              </a:ext>
            </a:extLst>
          </p:cNvPr>
          <p:cNvSpPr/>
          <p:nvPr/>
        </p:nvSpPr>
        <p:spPr>
          <a:xfrm>
            <a:off x="8549640" y="4343400"/>
            <a:ext cx="2971800" cy="512064"/>
          </a:xfrm>
          <a:prstGeom prst="roundRect">
            <a:avLst/>
          </a:prstGeom>
          <a:solidFill>
            <a:srgbClr val="D9E8F5"/>
          </a:solidFill>
          <a:ln w="12700">
            <a:solidFill>
              <a:srgbClr val="ADC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0F7284E-8C39-E872-8CCC-9DBCD7CAC779}"/>
              </a:ext>
            </a:extLst>
          </p:cNvPr>
          <p:cNvSpPr txBox="1"/>
          <p:nvPr/>
        </p:nvSpPr>
        <p:spPr>
          <a:xfrm>
            <a:off x="8732520" y="4416552"/>
            <a:ext cx="8503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172451"/>
                </a:solidFill>
                <a:latin typeface="Arial"/>
              </a:rPr>
              <a:t>WATCHLIST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09A1AAF-ED70-9DB5-E5B6-1D0E88EDB245}"/>
              </a:ext>
            </a:extLst>
          </p:cNvPr>
          <p:cNvSpPr txBox="1"/>
          <p:nvPr/>
        </p:nvSpPr>
        <p:spPr>
          <a:xfrm>
            <a:off x="9582912" y="4416552"/>
            <a:ext cx="17556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4456F"/>
                </a:solidFill>
                <a:latin typeface="Arial"/>
              </a:rPr>
              <a:t>What stays on radar?</a:t>
            </a:r>
          </a:p>
        </p:txBody>
      </p:sp>
      <p:cxnSp>
        <p:nvCxnSpPr>
          <p:cNvPr id="94" name="Connector 44">
            <a:extLst>
              <a:ext uri="{FF2B5EF4-FFF2-40B4-BE49-F238E27FC236}">
                <a16:creationId xmlns:a16="http://schemas.microsoft.com/office/drawing/2014/main" id="{A4EFF4C2-507B-0194-B4E8-395A86DFE43A}"/>
              </a:ext>
            </a:extLst>
          </p:cNvPr>
          <p:cNvCxnSpPr/>
          <p:nvPr/>
        </p:nvCxnSpPr>
        <p:spPr>
          <a:xfrm>
            <a:off x="658368" y="5577840"/>
            <a:ext cx="10863072" cy="0"/>
          </a:xfrm>
          <a:prstGeom prst="line">
            <a:avLst/>
          </a:prstGeom>
          <a:ln w="13970">
            <a:solidFill>
              <a:srgbClr val="6F8E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6BFD35A-2543-5C75-B1D5-CD5B7D15448F}"/>
              </a:ext>
            </a:extLst>
          </p:cNvPr>
          <p:cNvSpPr txBox="1"/>
          <p:nvPr/>
        </p:nvSpPr>
        <p:spPr>
          <a:xfrm>
            <a:off x="658368" y="5779008"/>
            <a:ext cx="123444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19" b="1" i="0">
                <a:solidFill>
                  <a:srgbClr val="9FB7D3"/>
                </a:solidFill>
                <a:latin typeface="Arial"/>
              </a:rPr>
              <a:t>Connected today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B45EFBE-A008-666F-7205-A1D479277AA2}"/>
              </a:ext>
            </a:extLst>
          </p:cNvPr>
          <p:cNvSpPr txBox="1"/>
          <p:nvPr/>
        </p:nvSpPr>
        <p:spPr>
          <a:xfrm>
            <a:off x="1901952" y="5760720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  <a:latin typeface="Arial"/>
              </a:rPr>
              <a:t>Public news • Solana / Base pools • observed swap flow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C6338BD-0098-DAD0-70A2-2BF39346EF37}"/>
              </a:ext>
            </a:extLst>
          </p:cNvPr>
          <p:cNvSpPr txBox="1"/>
          <p:nvPr/>
        </p:nvSpPr>
        <p:spPr>
          <a:xfrm>
            <a:off x="8065008" y="5760720"/>
            <a:ext cx="34564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30" b="0" i="0">
                <a:solidFill>
                  <a:srgbClr val="9FB7D3"/>
                </a:solidFill>
                <a:latin typeface="Arial"/>
              </a:rPr>
              <a:t>X watchlist: planned, not connected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ABEE66A-0213-9529-C259-654F068EC745}"/>
              </a:ext>
            </a:extLst>
          </p:cNvPr>
          <p:cNvSpPr txBox="1"/>
          <p:nvPr/>
        </p:nvSpPr>
        <p:spPr>
          <a:xfrm>
            <a:off x="8183879" y="6144768"/>
            <a:ext cx="333756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22B7C7"/>
                </a:solidFill>
                <a:latin typeface="Arial"/>
              </a:rPr>
              <a:t>AI-assisted build: Claude + Codex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2336" y="438912"/>
            <a:ext cx="64008" cy="484632"/>
          </a:xfrm>
          <a:prstGeom prst="rect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30936" y="420624"/>
            <a:ext cx="38404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50" b="1">
                <a:solidFill>
                  <a:srgbClr val="D6A82E"/>
                </a:solidFill>
                <a:latin typeface="Arial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667512"/>
            <a:ext cx="10607040" cy="56692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2800" b="1">
                <a:solidFill>
                  <a:srgbClr val="5B9AE6"/>
                </a:solidFill>
                <a:latin typeface="Arial"/>
              </a:rPr>
              <a:t>The stack behind MEME-FAST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252728"/>
            <a:ext cx="10515600" cy="31089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Public feeds + market APIs + lightweight browser logic, deployed as one fast research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764792"/>
            <a:ext cx="11128248" cy="3675887"/>
          </a:xfrm>
          <a:prstGeom prst="roundRect">
            <a:avLst/>
          </a:prstGeom>
          <a:solidFill>
            <a:srgbClr val="C6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1938528"/>
            <a:ext cx="2359152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172451"/>
                </a:solidFill>
                <a:latin typeface="Arial"/>
              </a:rP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221992"/>
            <a:ext cx="235915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30" b="0">
                <a:solidFill>
                  <a:srgbClr val="34456F"/>
                </a:solidFill>
                <a:latin typeface="Arial"/>
              </a:rPr>
              <a:t>External 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7288" y="1938528"/>
            <a:ext cx="2359152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172451"/>
                </a:solidFill>
                <a:latin typeface="Arial"/>
              </a:rPr>
              <a:t>INGEST +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7288" y="2221992"/>
            <a:ext cx="235915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30" b="0">
                <a:solidFill>
                  <a:srgbClr val="34456F"/>
                </a:solidFill>
                <a:latin typeface="Arial"/>
              </a:rPr>
              <a:t>Turn raw feeds into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1938528"/>
            <a:ext cx="2359152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172451"/>
                </a:solidFill>
                <a:latin typeface="Arial"/>
              </a:rPr>
              <a:t>FRONT 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2221992"/>
            <a:ext cx="235915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30" b="0">
                <a:solidFill>
                  <a:srgbClr val="34456F"/>
                </a:solidFill>
                <a:latin typeface="Arial"/>
              </a:rPr>
              <a:t>Fast browser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0536" y="1938528"/>
            <a:ext cx="2359152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200" b="1">
                <a:solidFill>
                  <a:srgbClr val="172451"/>
                </a:solidFill>
                <a:latin typeface="Arial"/>
              </a:rPr>
              <a:t>DEPLOY +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2221992"/>
            <a:ext cx="235915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30" b="0">
                <a:solidFill>
                  <a:srgbClr val="34456F"/>
                </a:solidFill>
                <a:latin typeface="Arial"/>
              </a:rPr>
              <a:t>Ship and iterate quickly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938528"/>
            <a:ext cx="10972" cy="3182112"/>
          </a:xfrm>
          <a:prstGeom prst="rect">
            <a:avLst/>
          </a:prstGeom>
          <a:solidFill>
            <a:srgbClr val="9E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52744" y="1938528"/>
            <a:ext cx="10972" cy="3182112"/>
          </a:xfrm>
          <a:prstGeom prst="rect">
            <a:avLst/>
          </a:prstGeom>
          <a:solidFill>
            <a:srgbClr val="9E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59368" y="1938528"/>
            <a:ext cx="10972" cy="3182112"/>
          </a:xfrm>
          <a:prstGeom prst="rect">
            <a:avLst/>
          </a:prstGeom>
          <a:solidFill>
            <a:srgbClr val="9E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22376" y="2688336"/>
            <a:ext cx="1051560" cy="310896"/>
          </a:xfrm>
          <a:prstGeom prst="roundRect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2706624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NEWS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" y="2660904"/>
            <a:ext cx="106984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60" b="1">
                <a:solidFill>
                  <a:srgbClr val="172451"/>
                </a:solidFill>
                <a:latin typeface="Arial"/>
              </a:rPr>
              <a:t>Decrypt RSS
Cointelegraph RSS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" y="3383280"/>
            <a:ext cx="1051560" cy="310896"/>
          </a:xfrm>
          <a:prstGeom prst="roundRect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401568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" y="3374136"/>
            <a:ext cx="106984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60" b="1">
                <a:solidFill>
                  <a:srgbClr val="172451"/>
                </a:solidFill>
                <a:latin typeface="Arial"/>
              </a:rPr>
              <a:t>GeckoTerminal
Solana + Base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" y="4096512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4114800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LOOKUP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83664" y="4087368"/>
            <a:ext cx="1069848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60" b="1">
                <a:solidFill>
                  <a:srgbClr val="172451"/>
                </a:solidFill>
                <a:latin typeface="Arial"/>
              </a:rPr>
              <a:t>DEX Screener
contract discovery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4800600"/>
            <a:ext cx="2176272" cy="22860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10" b="1">
                <a:solidFill>
                  <a:srgbClr val="34456F"/>
                </a:solidFill>
                <a:latin typeface="Arial"/>
              </a:rPr>
              <a:t>PUBLIC + READ-ONLY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47288" y="2679192"/>
            <a:ext cx="93268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0" y="2697480"/>
            <a:ext cx="877824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60" b="1">
                <a:solidFill>
                  <a:srgbClr val="172451"/>
                </a:solidFill>
                <a:latin typeface="Arial"/>
              </a:rPr>
              <a:t>RSS2JSON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71416" y="2670048"/>
            <a:ext cx="1225296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40" b="0">
                <a:solidFill>
                  <a:srgbClr val="172451"/>
                </a:solidFill>
                <a:latin typeface="Arial"/>
              </a:rPr>
              <a:t>news feed bridge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47288" y="3200400"/>
            <a:ext cx="93268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0" y="3218688"/>
            <a:ext cx="877824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60" b="1">
                <a:solidFill>
                  <a:srgbClr val="172451"/>
                </a:solidFill>
                <a:latin typeface="Arial"/>
              </a:rPr>
              <a:t>REST / 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6" y="3191256"/>
            <a:ext cx="1225296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40" b="0">
                <a:solidFill>
                  <a:srgbClr val="172451"/>
                </a:solidFill>
                <a:latin typeface="Arial"/>
              </a:rPr>
              <a:t>market-data fetch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47288" y="3721608"/>
            <a:ext cx="93268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0" y="3739896"/>
            <a:ext cx="877824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60" b="1">
                <a:solidFill>
                  <a:srgbClr val="172451"/>
                </a:solidFill>
                <a:latin typeface="Arial"/>
              </a:rPr>
              <a:t>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1416" y="3712464"/>
            <a:ext cx="1225296" cy="32918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40" b="0">
                <a:solidFill>
                  <a:srgbClr val="172451"/>
                </a:solidFill>
                <a:latin typeface="Arial"/>
              </a:rPr>
              <a:t>pool scan / refresh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7288" y="4334256"/>
            <a:ext cx="2167128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>
                <a:solidFill>
                  <a:srgbClr val="34456F"/>
                </a:solidFill>
                <a:latin typeface="Arial"/>
              </a:rPr>
              <a:t>APP LOGIC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47288" y="4590288"/>
            <a:ext cx="21031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9" b="0">
                <a:solidFill>
                  <a:srgbClr val="172451"/>
                </a:solidFill>
                <a:latin typeface="Arial"/>
              </a:rPr>
              <a:t>• Headline clustering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47288" y="4800600"/>
            <a:ext cx="21031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9" b="0">
                <a:solidFill>
                  <a:srgbClr val="172451"/>
                </a:solidFill>
                <a:latin typeface="Arial"/>
              </a:rPr>
              <a:t>• Exact CA matching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47288" y="5010912"/>
            <a:ext cx="21031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9" b="0">
                <a:solidFill>
                  <a:srgbClr val="172451"/>
                </a:solidFill>
                <a:latin typeface="Arial"/>
              </a:rPr>
              <a:t>• Pool filtering + ranking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47288" y="5221224"/>
            <a:ext cx="2103120" cy="18288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69" b="0">
                <a:solidFill>
                  <a:srgbClr val="172451"/>
                </a:solidFill>
                <a:latin typeface="Arial"/>
              </a:rPr>
              <a:t>• Swap aggregation + cache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3912" y="2688336"/>
            <a:ext cx="84124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81344" y="2706624"/>
            <a:ext cx="786384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HTML5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68312" y="2688336"/>
            <a:ext cx="71323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95744" y="2706624"/>
            <a:ext cx="65836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CSS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54696" y="2688336"/>
            <a:ext cx="57607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882127" y="2706624"/>
            <a:ext cx="521208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JS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53912" y="3136392"/>
            <a:ext cx="2176272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00" b="1">
                <a:solidFill>
                  <a:srgbClr val="172451"/>
                </a:solidFill>
                <a:latin typeface="Arial"/>
              </a:rPr>
              <a:t>JavaScript ES modules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53912" y="3419856"/>
            <a:ext cx="2176272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030" b="0">
                <a:solidFill>
                  <a:srgbClr val="34456F"/>
                </a:solidFill>
                <a:latin typeface="Arial"/>
              </a:rPr>
              <a:t>Browser-local state / history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3912" y="3822191"/>
            <a:ext cx="21762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>
                <a:solidFill>
                  <a:srgbClr val="34456F"/>
                </a:solidFill>
                <a:latin typeface="Arial"/>
              </a:rPr>
              <a:t>TRADER VIEWS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53912" y="4123944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1344" y="4142231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COIN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78624" y="4123944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06056" y="4142231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19" b="1">
                <a:solidFill>
                  <a:srgbClr val="172451"/>
                </a:solidFill>
                <a:latin typeface="Arial"/>
              </a:rPr>
              <a:t>NARRATIVE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53912" y="4517136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81344" y="4535424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880" b="1">
                <a:solidFill>
                  <a:srgbClr val="172451"/>
                </a:solidFill>
                <a:latin typeface="Arial"/>
              </a:rPr>
              <a:t>ORDER FLOW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78624" y="4517136"/>
            <a:ext cx="1051560" cy="310896"/>
          </a:xfrm>
          <a:prstGeom prst="roundRect">
            <a:avLst/>
          </a:prstGeom>
          <a:solidFill>
            <a:srgbClr val="D9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06056" y="4535424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00" b="1">
                <a:solidFill>
                  <a:srgbClr val="172451"/>
                </a:solidFill>
                <a:latin typeface="Arial"/>
              </a:rPr>
              <a:t>WATCHLIST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53912" y="4928616"/>
            <a:ext cx="2176272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19" b="0">
                <a:solidFill>
                  <a:srgbClr val="34456F"/>
                </a:solidFill>
                <a:latin typeface="Arial"/>
              </a:rPr>
              <a:t>60s visible-page order-flow refresh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60536" y="2688336"/>
            <a:ext cx="1051560" cy="310896"/>
          </a:xfrm>
          <a:prstGeom prst="roundRect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87967" y="2706624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50" b="1">
                <a:solidFill>
                  <a:srgbClr val="172451"/>
                </a:solidFill>
                <a:latin typeface="Arial"/>
              </a:rPr>
              <a:t>MODAL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003536" y="2670048"/>
            <a:ext cx="107899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72451"/>
                </a:solidFill>
                <a:latin typeface="Arial"/>
              </a:rPr>
              <a:t>web endpoint
server execution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860536" y="3410712"/>
            <a:ext cx="1051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87967" y="3429000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172451"/>
                </a:solidFill>
                <a:latin typeface="Arial"/>
              </a:rPr>
              <a:t>LOCAL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03536" y="3401568"/>
            <a:ext cx="1078992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50" b="1">
                <a:solidFill>
                  <a:srgbClr val="172451"/>
                </a:solidFill>
                <a:latin typeface="Arial"/>
              </a:rPr>
              <a:t>no login
local config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60536" y="4023360"/>
            <a:ext cx="2176272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50" b="1">
                <a:solidFill>
                  <a:srgbClr val="34456F"/>
                </a:solidFill>
                <a:latin typeface="Arial"/>
              </a:rPr>
              <a:t>AI-ASSISTED DELIVERY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860536" y="4343400"/>
            <a:ext cx="1051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887967" y="4361688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69" b="1">
                <a:solidFill>
                  <a:srgbClr val="172451"/>
                </a:solidFill>
                <a:latin typeface="Arial"/>
              </a:rPr>
              <a:t>CLAUDE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985248" y="4343400"/>
            <a:ext cx="1051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012680" y="4361688"/>
            <a:ext cx="996695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69" b="1">
                <a:solidFill>
                  <a:srgbClr val="172451"/>
                </a:solidFill>
                <a:latin typeface="Arial"/>
              </a:rPr>
              <a:t>CODEX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60536" y="4773168"/>
            <a:ext cx="2176272" cy="34747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40" b="0">
                <a:solidFill>
                  <a:srgbClr val="172451"/>
                </a:solidFill>
                <a:latin typeface="Arial"/>
              </a:rPr>
              <a:t>Product definition → prompt / requirements → build → test on live data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3017520" y="3584448"/>
            <a:ext cx="182880" cy="292608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ight Arrow 72"/>
          <p:cNvSpPr/>
          <p:nvPr/>
        </p:nvSpPr>
        <p:spPr>
          <a:xfrm>
            <a:off x="5724144" y="3584448"/>
            <a:ext cx="182880" cy="292608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ight Arrow 73"/>
          <p:cNvSpPr/>
          <p:nvPr/>
        </p:nvSpPr>
        <p:spPr>
          <a:xfrm>
            <a:off x="8430768" y="3584448"/>
            <a:ext cx="182880" cy="292608"/>
          </a:xfrm>
          <a:prstGeom prst="rightArrow">
            <a:avLst/>
          </a:prstGeom>
          <a:solidFill>
            <a:srgbClr val="22B7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58368" y="5577840"/>
            <a:ext cx="1234440" cy="2194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40" b="1">
                <a:solidFill>
                  <a:srgbClr val="9FB7D3"/>
                </a:solidFill>
                <a:latin typeface="Arial"/>
              </a:rPr>
              <a:t>REQUEST PATH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47088" y="5559552"/>
            <a:ext cx="7498079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>
                <a:solidFill>
                  <a:srgbClr val="FFFFFF"/>
                </a:solidFill>
                <a:latin typeface="Arial"/>
              </a:rPr>
              <a:t>SIGNAL  →  FETCH  →  FILTER / MATCH  →  MARKET CONTEXT  →  TRADER VIEW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36608" y="5559552"/>
            <a:ext cx="1993392" cy="23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980" b="1">
                <a:solidFill>
                  <a:srgbClr val="22B7C7"/>
                </a:solidFill>
                <a:latin typeface="Arial"/>
              </a:rPr>
              <a:t>MEME-FAST • V2.1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5925312"/>
            <a:ext cx="4983480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900" b="0">
                <a:solidFill>
                  <a:srgbClr val="9FB7D3"/>
                </a:solidFill>
                <a:latin typeface="Arial"/>
              </a:rPr>
              <a:t>Connected today: public news • Solana / Base pools • observed swaps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48272" y="5925312"/>
            <a:ext cx="4681728" cy="20116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900" b="0">
                <a:solidFill>
                  <a:srgbClr val="9FB7D3"/>
                </a:solidFill>
                <a:latin typeface="Arial"/>
              </a:rPr>
              <a:t>X watchlist is planned; live X collection is not connected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28619D2-376A-1695-4A4C-9427EAEB46A6}"/>
              </a:ext>
            </a:extLst>
          </p:cNvPr>
          <p:cNvSpPr/>
          <p:nvPr/>
        </p:nvSpPr>
        <p:spPr>
          <a:xfrm>
            <a:off x="219456" y="1237107"/>
            <a:ext cx="6446520" cy="5074920"/>
          </a:xfrm>
          <a:prstGeom prst="roundRect">
            <a:avLst/>
          </a:prstGeom>
          <a:solidFill>
            <a:srgbClr val="162347"/>
          </a:solidFill>
          <a:ln w="12700">
            <a:solidFill>
              <a:srgbClr val="344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F972E1A3-89D7-92E4-B39E-C97369CE9181}"/>
              </a:ext>
            </a:extLst>
          </p:cNvPr>
          <p:cNvSpPr/>
          <p:nvPr/>
        </p:nvSpPr>
        <p:spPr>
          <a:xfrm>
            <a:off x="6894576" y="1237107"/>
            <a:ext cx="5074920" cy="5074920"/>
          </a:xfrm>
          <a:prstGeom prst="roundRect">
            <a:avLst/>
          </a:prstGeom>
          <a:solidFill>
            <a:srgbClr val="162347"/>
          </a:solidFill>
          <a:ln w="12700">
            <a:solidFill>
              <a:srgbClr val="344C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304D1A-55D3-CA3E-F205-1AF282151AC0}"/>
              </a:ext>
            </a:extLst>
          </p:cNvPr>
          <p:cNvSpPr txBox="1"/>
          <p:nvPr/>
        </p:nvSpPr>
        <p:spPr>
          <a:xfrm>
            <a:off x="645795" y="145846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22B7C7"/>
                </a:solidFill>
                <a:latin typeface="Arial"/>
              </a:rPr>
              <a:t>COIN SCANNER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A3AEF8-3B94-6EA0-6303-7A9C4C1C6438}"/>
              </a:ext>
            </a:extLst>
          </p:cNvPr>
          <p:cNvSpPr txBox="1"/>
          <p:nvPr/>
        </p:nvSpPr>
        <p:spPr>
          <a:xfrm>
            <a:off x="7311771" y="145846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B7C7"/>
                </a:solidFill>
                <a:latin typeface="Arial"/>
              </a:rPr>
              <a:t>ORDER FLOW</a:t>
            </a:r>
          </a:p>
        </p:txBody>
      </p:sp>
      <p:pic>
        <p:nvPicPr>
          <p:cNvPr id="10" name="Picture 9" descr="image3.png">
            <a:extLst>
              <a:ext uri="{FF2B5EF4-FFF2-40B4-BE49-F238E27FC236}">
                <a16:creationId xmlns:a16="http://schemas.microsoft.com/office/drawing/2014/main" id="{AF54E00D-A05A-13D8-830D-56B286B61D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18" r="13218"/>
          <a:stretch>
            <a:fillRect/>
          </a:stretch>
        </p:blipFill>
        <p:spPr>
          <a:xfrm>
            <a:off x="512064" y="1740027"/>
            <a:ext cx="5852160" cy="4187952"/>
          </a:xfrm>
          <a:prstGeom prst="rect">
            <a:avLst/>
          </a:prstGeom>
        </p:spPr>
      </p:pic>
      <p:pic>
        <p:nvPicPr>
          <p:cNvPr id="11" name="Picture 10" descr="image4.png">
            <a:extLst>
              <a:ext uri="{FF2B5EF4-FFF2-40B4-BE49-F238E27FC236}">
                <a16:creationId xmlns:a16="http://schemas.microsoft.com/office/drawing/2014/main" id="{2927A6FC-EC14-1ACE-2A7E-947FE0F216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27" b="5027"/>
          <a:stretch>
            <a:fillRect/>
          </a:stretch>
        </p:blipFill>
        <p:spPr>
          <a:xfrm>
            <a:off x="7205472" y="1740027"/>
            <a:ext cx="4443984" cy="41879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6EDBDE-6DD3-A35B-D771-A9FE7ACC62DD}"/>
              </a:ext>
            </a:extLst>
          </p:cNvPr>
          <p:cNvSpPr txBox="1"/>
          <p:nvPr/>
        </p:nvSpPr>
        <p:spPr>
          <a:xfrm>
            <a:off x="8549640" y="6394323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0">
                <a:solidFill>
                  <a:srgbClr val="9FB7D3"/>
                </a:solidFill>
                <a:latin typeface="Arial"/>
              </a:rPr>
              <a:t>bytx24--meme-fast-web.modal.run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A16462-78DE-BD36-6A27-1B9AEC6AD311}"/>
              </a:ext>
            </a:extLst>
          </p:cNvPr>
          <p:cNvSpPr txBox="1"/>
          <p:nvPr/>
        </p:nvSpPr>
        <p:spPr>
          <a:xfrm>
            <a:off x="658368" y="475488"/>
            <a:ext cx="4114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dirty="0">
                <a:solidFill>
                  <a:srgbClr val="D6A82E"/>
                </a:solidFill>
                <a:latin typeface="Arial"/>
              </a:rPr>
              <a:t>WORKING PRODUCT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783AE0-0DCC-ADEA-4512-A7C894AFF459}"/>
              </a:ext>
            </a:extLst>
          </p:cNvPr>
          <p:cNvSpPr txBox="1"/>
          <p:nvPr/>
        </p:nvSpPr>
        <p:spPr>
          <a:xfrm>
            <a:off x="658368" y="713232"/>
            <a:ext cx="10698480" cy="4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50" b="1" i="0" dirty="0">
                <a:solidFill>
                  <a:srgbClr val="5B9AE6"/>
                </a:solidFill>
                <a:latin typeface="Arial"/>
              </a:rPr>
              <a:t>MEME-FAST: from attention to market context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95610F-0B91-5BC2-F34E-200B19BFA689}"/>
              </a:ext>
            </a:extLst>
          </p:cNvPr>
          <p:cNvSpPr/>
          <p:nvPr/>
        </p:nvSpPr>
        <p:spPr>
          <a:xfrm>
            <a:off x="402336" y="438912"/>
            <a:ext cx="64008" cy="484632"/>
          </a:xfrm>
          <a:prstGeom prst="rect">
            <a:avLst/>
          </a:prstGeom>
          <a:solidFill>
            <a:srgbClr val="D6A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21610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9A5716-7766-76A7-3CA9-5804E8FAA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6" y="0"/>
            <a:ext cx="1956816" cy="3427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AC3E19-2850-3910-1017-B85D3BB3A4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50691" b="23333"/>
          <a:stretch/>
        </p:blipFill>
        <p:spPr>
          <a:xfrm>
            <a:off x="2641542" y="0"/>
            <a:ext cx="5118924" cy="525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15CC9E-9E03-D12F-42EE-5F201B5D1D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44" t="72639" r="635" b="5923"/>
          <a:stretch/>
        </p:blipFill>
        <p:spPr>
          <a:xfrm>
            <a:off x="4731194" y="1913638"/>
            <a:ext cx="3892449" cy="1513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BA1B8F-D7CD-99B3-1F23-368B8594A2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639" r="60035"/>
          <a:stretch/>
        </p:blipFill>
        <p:spPr>
          <a:xfrm>
            <a:off x="2641542" y="4512460"/>
            <a:ext cx="5118924" cy="231515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23491CB-26EB-C379-ABA2-A2A8BF48F96F}"/>
              </a:ext>
            </a:extLst>
          </p:cNvPr>
          <p:cNvSpPr/>
          <p:nvPr/>
        </p:nvSpPr>
        <p:spPr>
          <a:xfrm>
            <a:off x="5729534" y="6343048"/>
            <a:ext cx="981777" cy="484569"/>
          </a:xfrm>
          <a:prstGeom prst="ellipse">
            <a:avLst/>
          </a:prstGeom>
          <a:noFill/>
          <a:ln>
            <a:solidFill>
              <a:srgbClr val="B38A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653D6C-4704-B53B-CBF6-3124247352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789"/>
          <a:stretch/>
        </p:blipFill>
        <p:spPr>
          <a:xfrm>
            <a:off x="8685109" y="0"/>
            <a:ext cx="3268766" cy="3427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CE84A4-23D9-EEA5-BD2E-A5F3856B27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761"/>
          <a:stretch/>
        </p:blipFill>
        <p:spPr>
          <a:xfrm>
            <a:off x="219074" y="3609774"/>
            <a:ext cx="2247500" cy="320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40418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574</Words>
  <Application>Microsoft Office PowerPoint</Application>
  <DocSecurity>0</DocSecurity>
  <PresentationFormat>Widescreen</PresentationFormat>
  <Paragraphs>138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Ben Yong</cp:lastModifiedBy>
  <cp:revision>6</cp:revision>
  <dcterms:created xsi:type="dcterms:W3CDTF">2026-08-08T11:53:33Z</dcterms:created>
  <dcterms:modified xsi:type="dcterms:W3CDTF">2026-09-23T12:59:17Z</dcterms:modified>
</cp:coreProperties>
</file>